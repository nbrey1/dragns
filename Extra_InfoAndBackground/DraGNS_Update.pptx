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7" r:id="rId4"/>
    <p:sldId id="259" r:id="rId5"/>
    <p:sldId id="263" r:id="rId6"/>
    <p:sldId id="264" r:id="rId7"/>
    <p:sldId id="262" r:id="rId8"/>
    <p:sldId id="265" r:id="rId9"/>
    <p:sldId id="271" r:id="rId10"/>
    <p:sldId id="266" r:id="rId11"/>
    <p:sldId id="272" r:id="rId12"/>
    <p:sldId id="267" r:id="rId13"/>
    <p:sldId id="273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3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8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7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37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7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8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5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9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6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EC7E614-CD97-49D4-A000-6DD9338D288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55BBC59-37A6-4E22-B530-6BBE63BE8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72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75000"/>
                <a:lumOff val="25000"/>
              </a:schemeClr>
            </a:gs>
            <a:gs pos="49000">
              <a:schemeClr val="bg1">
                <a:lumMod val="65000"/>
                <a:lumOff val="35000"/>
              </a:schemeClr>
            </a:gs>
            <a:gs pos="83000">
              <a:schemeClr val="bg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C47F-F572-B50A-F51B-733CC97EA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81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Density of States for Titan Relevant Molecules in GROMACS</a:t>
            </a:r>
          </a:p>
        </p:txBody>
      </p:sp>
    </p:spTree>
    <p:extLst>
      <p:ext uri="{BB962C8B-B14F-4D97-AF65-F5344CB8AC3E}">
        <p14:creationId xmlns:p14="http://schemas.microsoft.com/office/powerpoint/2010/main" val="1283204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5AC3-DB8C-0F64-0758-A7A8298B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2E19-90AA-DE64-84DB-C1A1F4177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12" y="863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Molecules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6EB8-D9F3-17F7-0E04-0B590919E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26" y="1059367"/>
            <a:ext cx="11853747" cy="5634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Modeled Molecules</a:t>
            </a:r>
          </a:p>
          <a:p>
            <a:r>
              <a:rPr lang="en-US" dirty="0"/>
              <a:t>Methane</a:t>
            </a:r>
          </a:p>
          <a:p>
            <a:r>
              <a:rPr lang="en-US" dirty="0"/>
              <a:t>Water-Ice (Ice-</a:t>
            </a:r>
            <a:r>
              <a:rPr lang="en-US" dirty="0" err="1"/>
              <a:t>Ih</a:t>
            </a:r>
            <a:r>
              <a:rPr lang="en-US" dirty="0"/>
              <a:t>) and Heay Water-Ice (D2O)</a:t>
            </a:r>
          </a:p>
          <a:p>
            <a:r>
              <a:rPr lang="en-US" dirty="0"/>
              <a:t>Ammonia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Experimental Comparison</a:t>
            </a:r>
          </a:p>
          <a:p>
            <a:r>
              <a:rPr lang="en-US" dirty="0"/>
              <a:t>Melamine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Future molecules of interest</a:t>
            </a:r>
          </a:p>
          <a:p>
            <a:r>
              <a:rPr lang="en-US" dirty="0"/>
              <a:t>Ethane, Butane, Ethylene + other hydrocarbons</a:t>
            </a:r>
          </a:p>
          <a:p>
            <a:r>
              <a:rPr lang="en-US" dirty="0"/>
              <a:t>Hydrogen Cyanide + other Nitriles and complex organics</a:t>
            </a:r>
          </a:p>
        </p:txBody>
      </p:sp>
    </p:spTree>
    <p:extLst>
      <p:ext uri="{BB962C8B-B14F-4D97-AF65-F5344CB8AC3E}">
        <p14:creationId xmlns:p14="http://schemas.microsoft.com/office/powerpoint/2010/main" val="332461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6866-E90F-BAFC-3B1A-5692A7ABD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12" y="863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Setup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DA0E4-9CAA-E63B-1DCD-68C27AC2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26" y="1946566"/>
            <a:ext cx="8056754" cy="3067651"/>
          </a:xfrm>
        </p:spPr>
        <p:txBody>
          <a:bodyPr>
            <a:normAutofit/>
          </a:bodyPr>
          <a:lstStyle/>
          <a:p>
            <a:r>
              <a:rPr lang="en-US" b="1" dirty="0"/>
              <a:t>Atoms</a:t>
            </a:r>
            <a:r>
              <a:rPr lang="en-US" dirty="0"/>
              <a:t>: mass – charge – positions</a:t>
            </a:r>
          </a:p>
          <a:p>
            <a:r>
              <a:rPr lang="en-US" b="1" dirty="0"/>
              <a:t>Bonds: </a:t>
            </a:r>
            <a:r>
              <a:rPr lang="en-US" dirty="0"/>
              <a:t>atoms bonded, bond length, strength (kJ/mol/nm2)</a:t>
            </a:r>
          </a:p>
          <a:p>
            <a:r>
              <a:rPr lang="en-US" b="1" dirty="0"/>
              <a:t>Bonds: </a:t>
            </a:r>
            <a:r>
              <a:rPr lang="en-US" dirty="0"/>
              <a:t>atoms bonded, bond angle, bond strength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053FCD-AEE4-D3C3-DD9F-5D10BA4508D1}"/>
              </a:ext>
            </a:extLst>
          </p:cNvPr>
          <p:cNvSpPr txBox="1"/>
          <p:nvPr/>
        </p:nvSpPr>
        <p:spPr>
          <a:xfrm>
            <a:off x="312234" y="992459"/>
            <a:ext cx="115972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Setup required knowledge of molecule structure and other parameters</a:t>
            </a:r>
          </a:p>
          <a:p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42357-D3BC-E0B6-1595-42412219C2E5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DOS Results</a:t>
            </a:r>
          </a:p>
        </p:txBody>
      </p:sp>
      <p:pic>
        <p:nvPicPr>
          <p:cNvPr id="10" name="Picture 9" descr="A white and grey molecule&#10;&#10;AI-generated content may be incorrect.">
            <a:extLst>
              <a:ext uri="{FF2B5EF4-FFF2-40B4-BE49-F238E27FC236}">
                <a16:creationId xmlns:a16="http://schemas.microsoft.com/office/drawing/2014/main" id="{C94C9595-32DD-DB27-F474-08A6B39F8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255" y="1712255"/>
            <a:ext cx="2887472" cy="21401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47A654-CEF6-46A0-11AD-25E3A6963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384" y="4389166"/>
            <a:ext cx="77438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09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D6A4-685E-71FA-D534-90C5BA339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2F43-4839-88DC-7A16-AD68A5CD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12" y="863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Energy Minimization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B0EA70-65B3-029B-E9E1-EBCCDD542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312" y="1411907"/>
            <a:ext cx="10515600" cy="1603375"/>
          </a:xfrm>
        </p:spPr>
        <p:txBody>
          <a:bodyPr/>
          <a:lstStyle/>
          <a:p>
            <a:r>
              <a:rPr lang="en-US" dirty="0"/>
              <a:t>Spaces out molecules to minimize forces on each one</a:t>
            </a:r>
          </a:p>
          <a:p>
            <a:pPr lvl="1"/>
            <a:r>
              <a:rPr lang="en-US" dirty="0"/>
              <a:t>Prevents strong repulsive forces at beginning of simulation (avoids errors)</a:t>
            </a:r>
          </a:p>
          <a:p>
            <a:r>
              <a:rPr lang="en-US" dirty="0"/>
              <a:t>Avoids overlapping molecules and atom shells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EF00A9-AF3D-47D0-C4BD-877C84149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155" y="3015282"/>
            <a:ext cx="4308180" cy="2951541"/>
          </a:xfrm>
          <a:prstGeom prst="rect">
            <a:avLst/>
          </a:prstGeom>
        </p:spPr>
      </p:pic>
      <p:pic>
        <p:nvPicPr>
          <p:cNvPr id="12" name="Picture 11" descr="A group of small round objects&#10;&#10;AI-generated content may be incorrect.">
            <a:extLst>
              <a:ext uri="{FF2B5EF4-FFF2-40B4-BE49-F238E27FC236}">
                <a16:creationId xmlns:a16="http://schemas.microsoft.com/office/drawing/2014/main" id="{5DA210F4-D2D5-59EE-1C84-0EE0BBF53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03" y="3143377"/>
            <a:ext cx="3351689" cy="269535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D041DE-4F1A-76A7-ABB5-AD60A51C3D5B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 flipV="1">
            <a:off x="4364592" y="4491053"/>
            <a:ext cx="2423563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77B3973-A0E1-E23E-E482-59E2D1284FE6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DOS Results</a:t>
            </a:r>
          </a:p>
        </p:txBody>
      </p:sp>
    </p:spTree>
    <p:extLst>
      <p:ext uri="{BB962C8B-B14F-4D97-AF65-F5344CB8AC3E}">
        <p14:creationId xmlns:p14="http://schemas.microsoft.com/office/powerpoint/2010/main" val="330914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50876E6-BFF3-B677-70EF-A34FA20C65C0}"/>
              </a:ext>
            </a:extLst>
          </p:cNvPr>
          <p:cNvSpPr txBox="1">
            <a:spLocks/>
          </p:cNvSpPr>
          <p:nvPr/>
        </p:nvSpPr>
        <p:spPr>
          <a:xfrm>
            <a:off x="632508" y="1276238"/>
            <a:ext cx="11382539" cy="182094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Equilibrate the system at desired T and P</a:t>
            </a:r>
          </a:p>
          <a:p>
            <a:pPr lvl="1"/>
            <a:r>
              <a:rPr lang="en-US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NVT</a:t>
            </a:r>
            <a:r>
              <a:rPr lang="en-US" dirty="0"/>
              <a:t>: closed system, heat transfer </a:t>
            </a:r>
            <a:r>
              <a:rPr lang="en-US" dirty="0">
                <a:sym typeface="Wingdings" panose="05000000000000000000" pitchFamily="2" charset="2"/>
              </a:rPr>
              <a:t> Adjust atom velocities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NPT</a:t>
            </a:r>
            <a:r>
              <a:rPr lang="en-US" dirty="0"/>
              <a:t>: closed system, heat and work transfer </a:t>
            </a:r>
            <a:r>
              <a:rPr lang="en-US" dirty="0">
                <a:sym typeface="Wingdings" panose="05000000000000000000" pitchFamily="2" charset="2"/>
              </a:rPr>
              <a:t> Adjust atom positions/density</a:t>
            </a:r>
            <a:endParaRPr lang="en-US" dirty="0"/>
          </a:p>
          <a:p>
            <a:r>
              <a:rPr lang="en-US" dirty="0"/>
              <a:t>Uses different thermostats and </a:t>
            </a:r>
            <a:r>
              <a:rPr lang="en-US" dirty="0" err="1"/>
              <a:t>barostats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5D1FC7-3267-57ED-E6D0-F10E3F79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57" y="3429000"/>
            <a:ext cx="3848295" cy="26295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FEF304-2C0B-1140-399E-F8FC79C16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133" y="3420592"/>
            <a:ext cx="3946019" cy="26463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651A74-F50C-2D37-5895-E96443061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4" y="3392198"/>
            <a:ext cx="3767204" cy="26631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80B31-7235-9538-7DED-937F375B4474}"/>
              </a:ext>
            </a:extLst>
          </p:cNvPr>
          <p:cNvSpPr/>
          <p:nvPr/>
        </p:nvSpPr>
        <p:spPr>
          <a:xfrm>
            <a:off x="87334" y="3372218"/>
            <a:ext cx="3760962" cy="2703119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7471-3336-0BC3-8857-83B1AD3758A5}"/>
              </a:ext>
            </a:extLst>
          </p:cNvPr>
          <p:cNvSpPr/>
          <p:nvPr/>
        </p:nvSpPr>
        <p:spPr>
          <a:xfrm>
            <a:off x="3882838" y="3380626"/>
            <a:ext cx="3944217" cy="2703119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4379EF-D312-C26E-1CB1-8821B55930A5}"/>
              </a:ext>
            </a:extLst>
          </p:cNvPr>
          <p:cNvSpPr/>
          <p:nvPr/>
        </p:nvSpPr>
        <p:spPr>
          <a:xfrm>
            <a:off x="7861597" y="3380626"/>
            <a:ext cx="3944217" cy="2703119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C4BE5AD-3862-2A90-F971-5D6A91C421DE}"/>
              </a:ext>
            </a:extLst>
          </p:cNvPr>
          <p:cNvSpPr txBox="1">
            <a:spLocks/>
          </p:cNvSpPr>
          <p:nvPr/>
        </p:nvSpPr>
        <p:spPr>
          <a:xfrm>
            <a:off x="838200" y="28741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Equilibration Runs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08801-36E6-7843-92C2-A4EE944A2B5D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b="1" dirty="0"/>
              <a:t>Equilibration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	                    Production and DOS					DOS Results</a:t>
            </a:r>
          </a:p>
        </p:txBody>
      </p:sp>
    </p:spTree>
    <p:extLst>
      <p:ext uri="{BB962C8B-B14F-4D97-AF65-F5344CB8AC3E}">
        <p14:creationId xmlns:p14="http://schemas.microsoft.com/office/powerpoint/2010/main" val="71937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5340-FCD6-64E5-22B4-138D02A96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19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Notes on Pressure Equilibration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47CC7-6CCA-4351-A3BD-36775100FA42}"/>
              </a:ext>
            </a:extLst>
          </p:cNvPr>
          <p:cNvSpPr txBox="1"/>
          <p:nvPr/>
        </p:nvSpPr>
        <p:spPr>
          <a:xfrm>
            <a:off x="91068" y="1098726"/>
            <a:ext cx="964580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Pressure fluctuates and the simulation box size changes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Instantaneous pressure is calculated from the virial: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Standard deviation scales with size of simulation: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Pressure is acceptable as long as the average is on the same order of magnitude of the target pressure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6019D-BB9D-6B9F-D18B-4578E048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624" y="1711966"/>
            <a:ext cx="3747794" cy="1040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8B3CE-9963-977D-14FB-59CD9566C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724" y="3039854"/>
            <a:ext cx="3279593" cy="10658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584CE9-68F9-F0E5-38FE-43CBFBF7DFC8}"/>
              </a:ext>
            </a:extLst>
          </p:cNvPr>
          <p:cNvSpPr txBox="1"/>
          <p:nvPr/>
        </p:nvSpPr>
        <p:spPr>
          <a:xfrm>
            <a:off x="91068" y="5603355"/>
            <a:ext cx="117775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Important to make sure density is at target and does not fluctuate</a:t>
            </a:r>
          </a:p>
          <a:p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0F8385-A311-EF54-922D-8D297581327F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b="1" dirty="0"/>
              <a:t>Equilibration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	                    Production and DOS					DOS Results</a:t>
            </a:r>
          </a:p>
        </p:txBody>
      </p:sp>
    </p:spTree>
    <p:extLst>
      <p:ext uri="{BB962C8B-B14F-4D97-AF65-F5344CB8AC3E}">
        <p14:creationId xmlns:p14="http://schemas.microsoft.com/office/powerpoint/2010/main" val="384352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F004E-0AC6-B426-1379-F918EEDC2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EBDE-BF48-D479-01E0-77643DF3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12" y="8634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Production Run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FA7FB-31DA-2279-3FA0-71E48340F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891340"/>
          </a:xfrm>
        </p:spPr>
        <p:txBody>
          <a:bodyPr/>
          <a:lstStyle/>
          <a:p>
            <a:r>
              <a:rPr lang="en-US" dirty="0"/>
              <a:t>Simulations (typically 1 – 5 ns) let molecules interact with each other</a:t>
            </a:r>
          </a:p>
          <a:p>
            <a:pPr lvl="1"/>
            <a:r>
              <a:rPr lang="en-US" dirty="0"/>
              <a:t>Outputs trajectory files tracking vibrations and rotations of atoms and molecules + bond bending/stretching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8D954-2B6D-752A-F2D9-704B7F90E5B9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GROMACS	</a:t>
            </a:r>
            <a:r>
              <a:rPr lang="en-US" dirty="0"/>
              <a:t>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</a:t>
            </a:r>
            <a:r>
              <a:rPr lang="en-US" b="1" dirty="0"/>
              <a:t>Production and DOS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					DOS Results</a:t>
            </a:r>
          </a:p>
        </p:txBody>
      </p:sp>
    </p:spTree>
    <p:extLst>
      <p:ext uri="{BB962C8B-B14F-4D97-AF65-F5344CB8AC3E}">
        <p14:creationId xmlns:p14="http://schemas.microsoft.com/office/powerpoint/2010/main" val="119739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5B5E53-245D-E20B-B984-B1B90DA5B204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GROMACS	</a:t>
            </a:r>
            <a:r>
              <a:rPr lang="en-US" dirty="0"/>
              <a:t>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</a:t>
            </a:r>
            <a:r>
              <a:rPr lang="en-US" b="1" dirty="0"/>
              <a:t>Production and DOS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					DOS 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75400B-D9EB-8524-A001-FC17D0C1867B}"/>
              </a:ext>
            </a:extLst>
          </p:cNvPr>
          <p:cNvSpPr txBox="1">
            <a:spLocks/>
          </p:cNvSpPr>
          <p:nvPr/>
        </p:nvSpPr>
        <p:spPr>
          <a:xfrm>
            <a:off x="797312" y="86344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DOS Calculation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607FE9-9917-F49A-4DAE-BA65278F4413}"/>
              </a:ext>
            </a:extLst>
          </p:cNvPr>
          <p:cNvSpPr txBox="1">
            <a:spLocks/>
          </p:cNvSpPr>
          <p:nvPr/>
        </p:nvSpPr>
        <p:spPr>
          <a:xfrm>
            <a:off x="615176" y="1411907"/>
            <a:ext cx="10515600" cy="36050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gmx</a:t>
            </a:r>
            <a:r>
              <a:rPr lang="en-US" dirty="0"/>
              <a:t> </a:t>
            </a:r>
            <a:r>
              <a:rPr lang="en-US" dirty="0" err="1"/>
              <a:t>velacc</a:t>
            </a:r>
            <a:r>
              <a:rPr lang="en-US" dirty="0"/>
              <a:t>: computes the velocity autocorrelation function</a:t>
            </a:r>
          </a:p>
          <a:p>
            <a:r>
              <a:rPr lang="en-US" dirty="0" err="1"/>
              <a:t>gmx</a:t>
            </a:r>
            <a:r>
              <a:rPr lang="en-US" dirty="0"/>
              <a:t> dos: computes the Density of States from a simulations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Both need trajectory files (output from production)</a:t>
            </a:r>
          </a:p>
          <a:p>
            <a:pPr lvl="1"/>
            <a:r>
              <a:rPr lang="en-US" dirty="0"/>
              <a:t>Contains all the coordinates, velocities, forces and energies</a:t>
            </a:r>
          </a:p>
        </p:txBody>
      </p:sp>
    </p:spTree>
    <p:extLst>
      <p:ext uri="{BB962C8B-B14F-4D97-AF65-F5344CB8AC3E}">
        <p14:creationId xmlns:p14="http://schemas.microsoft.com/office/powerpoint/2010/main" val="1620277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18ED-0E71-B1DE-A7A8-848C4DFB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9077D6-A1BE-AD9A-3720-4A5ECB09929F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</a:t>
            </a:r>
            <a:r>
              <a:rPr lang="en-US" b="1" dirty="0"/>
              <a:t>DOS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595404-87C9-16AF-6FB9-7ABFDF12E784}"/>
              </a:ext>
            </a:extLst>
          </p:cNvPr>
          <p:cNvSpPr txBox="1"/>
          <p:nvPr/>
        </p:nvSpPr>
        <p:spPr>
          <a:xfrm>
            <a:off x="3520068" y="86344"/>
            <a:ext cx="5151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METHANE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29E4890-362C-A7CD-423A-63C08E0A0928}"/>
              </a:ext>
            </a:extLst>
          </p:cNvPr>
          <p:cNvSpPr txBox="1">
            <a:spLocks/>
          </p:cNvSpPr>
          <p:nvPr/>
        </p:nvSpPr>
        <p:spPr>
          <a:xfrm>
            <a:off x="841918" y="1370578"/>
            <a:ext cx="10515600" cy="28913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200 Molecules (800 atoms)</a:t>
            </a:r>
          </a:p>
          <a:p>
            <a:endParaRPr lang="en-US" dirty="0"/>
          </a:p>
          <a:p>
            <a:r>
              <a:rPr lang="en-US" dirty="0"/>
              <a:t>T = 94K </a:t>
            </a:r>
          </a:p>
          <a:p>
            <a:endParaRPr lang="en-US" dirty="0"/>
          </a:p>
          <a:p>
            <a:r>
              <a:rPr lang="en-US" dirty="0"/>
              <a:t>Pressure = 1.5 bar</a:t>
            </a:r>
          </a:p>
          <a:p>
            <a:endParaRPr lang="en-US" dirty="0"/>
          </a:p>
          <a:p>
            <a:r>
              <a:rPr lang="en-US" dirty="0"/>
              <a:t>Density = 480 kg/m3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8BA195-427D-84C6-1BD1-0DB3383341D1}"/>
              </a:ext>
            </a:extLst>
          </p:cNvPr>
          <p:cNvGrpSpPr/>
          <p:nvPr/>
        </p:nvGrpSpPr>
        <p:grpSpPr>
          <a:xfrm>
            <a:off x="6544524" y="1256885"/>
            <a:ext cx="4090163" cy="4075236"/>
            <a:chOff x="1282966" y="2272276"/>
            <a:chExt cx="4090163" cy="40752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593B41-D6F2-7D5D-DB1C-4FB6E830F130}"/>
                </a:ext>
              </a:extLst>
            </p:cNvPr>
            <p:cNvGrpSpPr/>
            <p:nvPr/>
          </p:nvGrpSpPr>
          <p:grpSpPr>
            <a:xfrm>
              <a:off x="1282966" y="2272276"/>
              <a:ext cx="4090163" cy="4075236"/>
              <a:chOff x="22406078" y="27037639"/>
              <a:chExt cx="4090163" cy="4075236"/>
            </a:xfrm>
          </p:grpSpPr>
          <p:sp>
            <p:nvSpPr>
              <p:cNvPr id="9" name="Conector: curvado 25">
                <a:extLst>
                  <a:ext uri="{FF2B5EF4-FFF2-40B4-BE49-F238E27FC236}">
                    <a16:creationId xmlns:a16="http://schemas.microsoft.com/office/drawing/2014/main" id="{602E8BDC-3912-42C4-62A1-4C44E4DD3249}"/>
                  </a:ext>
                </a:extLst>
              </p:cNvPr>
              <p:cNvSpPr/>
              <p:nvPr/>
            </p:nvSpPr>
            <p:spPr>
              <a:xfrm rot="16200000" flipV="1">
                <a:off x="24610286" y="28118075"/>
                <a:ext cx="199279" cy="1051110"/>
              </a:xfrm>
              <a:prstGeom prst="curvedConnector2">
                <a:avLst/>
              </a:prstGeom>
              <a:solidFill>
                <a:srgbClr val="000000">
                  <a:alpha val="5000"/>
                </a:srgbClr>
              </a:solidFill>
              <a:ln w="57150">
                <a:solidFill>
                  <a:srgbClr val="017F0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fr-FR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DADC8D5-CDE6-F892-02E8-411F41CFE32E}"/>
                  </a:ext>
                </a:extLst>
              </p:cNvPr>
              <p:cNvSpPr/>
              <p:nvPr/>
            </p:nvSpPr>
            <p:spPr>
              <a:xfrm>
                <a:off x="22930722" y="28785789"/>
                <a:ext cx="458634" cy="1317849"/>
              </a:xfrm>
              <a:custGeom>
                <a:avLst/>
                <a:gdLst>
                  <a:gd name="csX0" fmla="*/ 279135 w 358648"/>
                  <a:gd name="csY0" fmla="*/ 1184744 h 1184744"/>
                  <a:gd name="csX1" fmla="*/ 840 w 358648"/>
                  <a:gd name="csY1" fmla="*/ 572494 h 1184744"/>
                  <a:gd name="csX2" fmla="*/ 358648 w 358648"/>
                  <a:gd name="csY2" fmla="*/ 0 h 11847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58648" h="1184744">
                    <a:moveTo>
                      <a:pt x="279135" y="1184744"/>
                    </a:moveTo>
                    <a:cubicBezTo>
                      <a:pt x="133361" y="977347"/>
                      <a:pt x="-12412" y="769951"/>
                      <a:pt x="840" y="572494"/>
                    </a:cubicBezTo>
                    <a:cubicBezTo>
                      <a:pt x="14092" y="375037"/>
                      <a:pt x="186370" y="187518"/>
                      <a:pt x="358648" y="0"/>
                    </a:cubicBezTo>
                  </a:path>
                </a:pathLst>
              </a:custGeom>
              <a:noFill/>
              <a:ln w="57150">
                <a:solidFill>
                  <a:srgbClr val="017F0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F052EB6-00AC-23D3-7758-8C7893DCB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406078" y="27037639"/>
                <a:ext cx="4090163" cy="4075236"/>
              </a:xfrm>
              <a:prstGeom prst="rect">
                <a:avLst/>
              </a:prstGeom>
            </p:spPr>
          </p:pic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AF098E48-2771-21F9-F0C3-68DCDB998805}"/>
                  </a:ext>
                </a:extLst>
              </p:cNvPr>
              <p:cNvSpPr/>
              <p:nvPr/>
            </p:nvSpPr>
            <p:spPr>
              <a:xfrm>
                <a:off x="25959386" y="29779572"/>
                <a:ext cx="143708" cy="158713"/>
              </a:xfrm>
              <a:prstGeom prst="triangle">
                <a:avLst/>
              </a:prstGeom>
              <a:solidFill>
                <a:srgbClr val="FF8E06"/>
              </a:solidFill>
              <a:ln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273C1A00-E98D-88F9-B8C4-96396C96788D}"/>
                  </a:ext>
                </a:extLst>
              </p:cNvPr>
              <p:cNvSpPr/>
              <p:nvPr/>
            </p:nvSpPr>
            <p:spPr>
              <a:xfrm rot="20357436">
                <a:off x="25855023" y="28677967"/>
                <a:ext cx="143708" cy="158713"/>
              </a:xfrm>
              <a:prstGeom prst="triangle">
                <a:avLst/>
              </a:prstGeom>
              <a:solidFill>
                <a:srgbClr val="FF8E06"/>
              </a:solidFill>
              <a:ln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85A7CF-BA2A-56D2-40F1-6673BCE04115}"/>
                  </a:ext>
                </a:extLst>
              </p:cNvPr>
              <p:cNvSpPr/>
              <p:nvPr/>
            </p:nvSpPr>
            <p:spPr>
              <a:xfrm rot="21236510">
                <a:off x="25924661" y="28829357"/>
                <a:ext cx="112202" cy="611031"/>
              </a:xfrm>
              <a:custGeom>
                <a:avLst/>
                <a:gdLst>
                  <a:gd name="csX0" fmla="*/ 0 w 142082"/>
                  <a:gd name="csY0" fmla="*/ 667062 h 667062"/>
                  <a:gd name="csX1" fmla="*/ 138659 w 142082"/>
                  <a:gd name="csY1" fmla="*/ 314793 h 667062"/>
                  <a:gd name="csX2" fmla="*/ 86193 w 142082"/>
                  <a:gd name="csY2" fmla="*/ 0 h 6670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2082" h="667062">
                    <a:moveTo>
                      <a:pt x="0" y="667062"/>
                    </a:moveTo>
                    <a:cubicBezTo>
                      <a:pt x="62147" y="546516"/>
                      <a:pt x="124294" y="425970"/>
                      <a:pt x="138659" y="314793"/>
                    </a:cubicBezTo>
                    <a:cubicBezTo>
                      <a:pt x="153025" y="203616"/>
                      <a:pt x="119609" y="101808"/>
                      <a:pt x="86193" y="0"/>
                    </a:cubicBezTo>
                  </a:path>
                </a:pathLst>
              </a:custGeom>
              <a:noFill/>
              <a:ln w="57150"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Connector: Curved 15">
                <a:extLst>
                  <a:ext uri="{FF2B5EF4-FFF2-40B4-BE49-F238E27FC236}">
                    <a16:creationId xmlns:a16="http://schemas.microsoft.com/office/drawing/2014/main" id="{C47F1C0C-0AF5-B957-5F0D-605591DD7DA7}"/>
                  </a:ext>
                </a:extLst>
              </p:cNvPr>
              <p:cNvSpPr/>
              <p:nvPr/>
            </p:nvSpPr>
            <p:spPr>
              <a:xfrm flipH="1" flipV="1">
                <a:off x="22788448" y="29917225"/>
                <a:ext cx="349309" cy="506871"/>
              </a:xfrm>
              <a:prstGeom prst="curvedConnector2">
                <a:avLst/>
              </a:prstGeom>
              <a:solidFill>
                <a:srgbClr val="000000">
                  <a:alpha val="5000"/>
                </a:srgbClr>
              </a:solidFill>
              <a:ln w="57150">
                <a:solidFill>
                  <a:srgbClr val="FF8E0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4EFBEF7C-6D02-CADC-2745-44DE691DC94D}"/>
                  </a:ext>
                </a:extLst>
              </p:cNvPr>
              <p:cNvSpPr/>
              <p:nvPr/>
            </p:nvSpPr>
            <p:spPr>
              <a:xfrm>
                <a:off x="22714386" y="29761211"/>
                <a:ext cx="143708" cy="158713"/>
              </a:xfrm>
              <a:prstGeom prst="triangle">
                <a:avLst/>
              </a:prstGeom>
              <a:solidFill>
                <a:srgbClr val="FF8E06"/>
              </a:solidFill>
              <a:ln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Connector: Curved 17">
                <a:extLst>
                  <a:ext uri="{FF2B5EF4-FFF2-40B4-BE49-F238E27FC236}">
                    <a16:creationId xmlns:a16="http://schemas.microsoft.com/office/drawing/2014/main" id="{2FF56A1F-FAEC-89B4-C404-A6C92CAE27D7}"/>
                  </a:ext>
                </a:extLst>
              </p:cNvPr>
              <p:cNvSpPr/>
              <p:nvPr/>
            </p:nvSpPr>
            <p:spPr>
              <a:xfrm flipH="1" flipV="1">
                <a:off x="24583994" y="29400254"/>
                <a:ext cx="45719" cy="523669"/>
              </a:xfrm>
              <a:prstGeom prst="curvedConnector2">
                <a:avLst/>
              </a:prstGeom>
              <a:solidFill>
                <a:srgbClr val="000000">
                  <a:alpha val="5000"/>
                </a:srgbClr>
              </a:solidFill>
              <a:ln w="57150">
                <a:solidFill>
                  <a:srgbClr val="FF8E0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7C669EDD-6890-298B-46E1-8AF91FE7BB5A}"/>
                  </a:ext>
                </a:extLst>
              </p:cNvPr>
              <p:cNvSpPr/>
              <p:nvPr/>
            </p:nvSpPr>
            <p:spPr>
              <a:xfrm rot="10800000">
                <a:off x="24535991" y="29844566"/>
                <a:ext cx="143708" cy="158713"/>
              </a:xfrm>
              <a:prstGeom prst="triangle">
                <a:avLst/>
              </a:prstGeom>
              <a:solidFill>
                <a:srgbClr val="FF8E06"/>
              </a:solidFill>
              <a:ln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310648A4-3AF6-5B23-2AB5-56C064D44FAF}"/>
                  </a:ext>
                </a:extLst>
              </p:cNvPr>
              <p:cNvSpPr/>
              <p:nvPr/>
            </p:nvSpPr>
            <p:spPr>
              <a:xfrm rot="3460301">
                <a:off x="23360170" y="28710559"/>
                <a:ext cx="158614" cy="114363"/>
              </a:xfrm>
              <a:prstGeom prst="triangle">
                <a:avLst/>
              </a:prstGeom>
              <a:solidFill>
                <a:srgbClr val="017F01"/>
              </a:solidFill>
              <a:ln>
                <a:solidFill>
                  <a:srgbClr val="017F0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Isosceles Triangle 20">
                <a:extLst>
                  <a:ext uri="{FF2B5EF4-FFF2-40B4-BE49-F238E27FC236}">
                    <a16:creationId xmlns:a16="http://schemas.microsoft.com/office/drawing/2014/main" id="{4E43B010-9217-51F0-3FA8-9859BC2F27CA}"/>
                  </a:ext>
                </a:extLst>
              </p:cNvPr>
              <p:cNvSpPr/>
              <p:nvPr/>
            </p:nvSpPr>
            <p:spPr>
              <a:xfrm rot="16200000">
                <a:off x="24051189" y="28503736"/>
                <a:ext cx="158614" cy="114363"/>
              </a:xfrm>
              <a:prstGeom prst="triangle">
                <a:avLst/>
              </a:prstGeom>
              <a:solidFill>
                <a:srgbClr val="017F01"/>
              </a:solidFill>
              <a:ln>
                <a:solidFill>
                  <a:srgbClr val="017F0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ED5F467-9F65-9CDC-47C7-3C2AD20BBE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32390" y="29400254"/>
                <a:ext cx="592117" cy="307429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EF0E959F-C962-93D7-B914-9F8EF13C06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579064" y="28337176"/>
                <a:ext cx="68838" cy="684932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121BC91-756C-96C5-18AE-A4760F931C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064919" y="28976872"/>
                <a:ext cx="1097127" cy="36931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Connector: Curved 7">
              <a:extLst>
                <a:ext uri="{FF2B5EF4-FFF2-40B4-BE49-F238E27FC236}">
                  <a16:creationId xmlns:a16="http://schemas.microsoft.com/office/drawing/2014/main" id="{6D162FED-83D2-5A14-80CE-DF675C109E9A}"/>
                </a:ext>
              </a:extLst>
            </p:cNvPr>
            <p:cNvSpPr/>
            <p:nvPr/>
          </p:nvSpPr>
          <p:spPr>
            <a:xfrm flipV="1">
              <a:off x="4736976" y="5130977"/>
              <a:ext cx="182880" cy="548640"/>
            </a:xfrm>
            <a:prstGeom prst="curvedConnector2">
              <a:avLst/>
            </a:prstGeom>
            <a:solidFill>
              <a:srgbClr val="000000">
                <a:alpha val="5000"/>
              </a:srgbClr>
            </a:solidFill>
            <a:ln w="57150">
              <a:solidFill>
                <a:srgbClr val="FF8E0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1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3329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400450-4D7A-DC89-F6D9-71C78ADF0786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</a:t>
            </a:r>
            <a:r>
              <a:rPr lang="en-US" b="1" dirty="0"/>
              <a:t>DOS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08681-047D-65E2-A721-0813E22E5E05}"/>
              </a:ext>
            </a:extLst>
          </p:cNvPr>
          <p:cNvSpPr txBox="1"/>
          <p:nvPr/>
        </p:nvSpPr>
        <p:spPr>
          <a:xfrm>
            <a:off x="3520068" y="86344"/>
            <a:ext cx="5151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METHANE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1A6D59-44A0-5AB0-8D64-8BFB3C167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95" y="1255316"/>
            <a:ext cx="8742073" cy="43473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904C0A0-0F84-CEB1-483A-E16D85DCC7B0}"/>
              </a:ext>
            </a:extLst>
          </p:cNvPr>
          <p:cNvGrpSpPr/>
          <p:nvPr/>
        </p:nvGrpSpPr>
        <p:grpSpPr>
          <a:xfrm>
            <a:off x="8926068" y="1895707"/>
            <a:ext cx="3096463" cy="3269145"/>
            <a:chOff x="1282966" y="2272276"/>
            <a:chExt cx="4090163" cy="407523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9DFF5D8-DCE8-95C0-A723-2DE79CC525B1}"/>
                </a:ext>
              </a:extLst>
            </p:cNvPr>
            <p:cNvGrpSpPr/>
            <p:nvPr/>
          </p:nvGrpSpPr>
          <p:grpSpPr>
            <a:xfrm>
              <a:off x="1282966" y="2272276"/>
              <a:ext cx="4090163" cy="4075236"/>
              <a:chOff x="22406078" y="27037639"/>
              <a:chExt cx="4090163" cy="4075236"/>
            </a:xfrm>
          </p:grpSpPr>
          <p:sp>
            <p:nvSpPr>
              <p:cNvPr id="16" name="Conector: curvado 25">
                <a:extLst>
                  <a:ext uri="{FF2B5EF4-FFF2-40B4-BE49-F238E27FC236}">
                    <a16:creationId xmlns:a16="http://schemas.microsoft.com/office/drawing/2014/main" id="{E01ED510-967B-B29D-35D6-EFE827E14F8B}"/>
                  </a:ext>
                </a:extLst>
              </p:cNvPr>
              <p:cNvSpPr/>
              <p:nvPr/>
            </p:nvSpPr>
            <p:spPr>
              <a:xfrm rot="16200000" flipV="1">
                <a:off x="24610286" y="28118075"/>
                <a:ext cx="199279" cy="1051110"/>
              </a:xfrm>
              <a:prstGeom prst="curvedConnector2">
                <a:avLst/>
              </a:prstGeom>
              <a:solidFill>
                <a:srgbClr val="000000">
                  <a:alpha val="5000"/>
                </a:srgbClr>
              </a:solidFill>
              <a:ln w="57150">
                <a:solidFill>
                  <a:srgbClr val="017F0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fr-FR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010FF60-E4AA-ACBF-379D-A83BEB15F132}"/>
                  </a:ext>
                </a:extLst>
              </p:cNvPr>
              <p:cNvSpPr/>
              <p:nvPr/>
            </p:nvSpPr>
            <p:spPr>
              <a:xfrm>
                <a:off x="22930722" y="28785789"/>
                <a:ext cx="458634" cy="1317849"/>
              </a:xfrm>
              <a:custGeom>
                <a:avLst/>
                <a:gdLst>
                  <a:gd name="csX0" fmla="*/ 279135 w 358648"/>
                  <a:gd name="csY0" fmla="*/ 1184744 h 1184744"/>
                  <a:gd name="csX1" fmla="*/ 840 w 358648"/>
                  <a:gd name="csY1" fmla="*/ 572494 h 1184744"/>
                  <a:gd name="csX2" fmla="*/ 358648 w 358648"/>
                  <a:gd name="csY2" fmla="*/ 0 h 11847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58648" h="1184744">
                    <a:moveTo>
                      <a:pt x="279135" y="1184744"/>
                    </a:moveTo>
                    <a:cubicBezTo>
                      <a:pt x="133361" y="977347"/>
                      <a:pt x="-12412" y="769951"/>
                      <a:pt x="840" y="572494"/>
                    </a:cubicBezTo>
                    <a:cubicBezTo>
                      <a:pt x="14092" y="375037"/>
                      <a:pt x="186370" y="187518"/>
                      <a:pt x="358648" y="0"/>
                    </a:cubicBezTo>
                  </a:path>
                </a:pathLst>
              </a:custGeom>
              <a:noFill/>
              <a:ln w="57150">
                <a:solidFill>
                  <a:srgbClr val="017F0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59C20E7-C67E-EAD6-DC46-5161C0CA05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406078" y="27037639"/>
                <a:ext cx="4090163" cy="4075236"/>
              </a:xfrm>
              <a:prstGeom prst="rect">
                <a:avLst/>
              </a:prstGeom>
            </p:spPr>
          </p:pic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37714062-B2EA-9E89-BF54-DDECD0214058}"/>
                  </a:ext>
                </a:extLst>
              </p:cNvPr>
              <p:cNvSpPr/>
              <p:nvPr/>
            </p:nvSpPr>
            <p:spPr>
              <a:xfrm>
                <a:off x="25959386" y="29779572"/>
                <a:ext cx="143708" cy="158713"/>
              </a:xfrm>
              <a:prstGeom prst="triangle">
                <a:avLst/>
              </a:prstGeom>
              <a:solidFill>
                <a:srgbClr val="FF8E06"/>
              </a:solidFill>
              <a:ln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98259FF9-39A8-C6F9-479E-D61477CDCD20}"/>
                  </a:ext>
                </a:extLst>
              </p:cNvPr>
              <p:cNvSpPr/>
              <p:nvPr/>
            </p:nvSpPr>
            <p:spPr>
              <a:xfrm rot="20357436">
                <a:off x="25855023" y="28677967"/>
                <a:ext cx="143708" cy="158713"/>
              </a:xfrm>
              <a:prstGeom prst="triangle">
                <a:avLst/>
              </a:prstGeom>
              <a:solidFill>
                <a:srgbClr val="FF8E06"/>
              </a:solidFill>
              <a:ln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22BECC1-4E34-78AE-9899-1C6CD13B65CA}"/>
                  </a:ext>
                </a:extLst>
              </p:cNvPr>
              <p:cNvSpPr/>
              <p:nvPr/>
            </p:nvSpPr>
            <p:spPr>
              <a:xfrm rot="21236510">
                <a:off x="25924661" y="28829357"/>
                <a:ext cx="112202" cy="611031"/>
              </a:xfrm>
              <a:custGeom>
                <a:avLst/>
                <a:gdLst>
                  <a:gd name="csX0" fmla="*/ 0 w 142082"/>
                  <a:gd name="csY0" fmla="*/ 667062 h 667062"/>
                  <a:gd name="csX1" fmla="*/ 138659 w 142082"/>
                  <a:gd name="csY1" fmla="*/ 314793 h 667062"/>
                  <a:gd name="csX2" fmla="*/ 86193 w 142082"/>
                  <a:gd name="csY2" fmla="*/ 0 h 6670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2082" h="667062">
                    <a:moveTo>
                      <a:pt x="0" y="667062"/>
                    </a:moveTo>
                    <a:cubicBezTo>
                      <a:pt x="62147" y="546516"/>
                      <a:pt x="124294" y="425970"/>
                      <a:pt x="138659" y="314793"/>
                    </a:cubicBezTo>
                    <a:cubicBezTo>
                      <a:pt x="153025" y="203616"/>
                      <a:pt x="119609" y="101808"/>
                      <a:pt x="86193" y="0"/>
                    </a:cubicBezTo>
                  </a:path>
                </a:pathLst>
              </a:custGeom>
              <a:noFill/>
              <a:ln w="57150"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Connector: Curved 21">
                <a:extLst>
                  <a:ext uri="{FF2B5EF4-FFF2-40B4-BE49-F238E27FC236}">
                    <a16:creationId xmlns:a16="http://schemas.microsoft.com/office/drawing/2014/main" id="{F72FE4AC-5748-A741-2D7B-CBA942B28AB5}"/>
                  </a:ext>
                </a:extLst>
              </p:cNvPr>
              <p:cNvSpPr/>
              <p:nvPr/>
            </p:nvSpPr>
            <p:spPr>
              <a:xfrm flipH="1" flipV="1">
                <a:off x="22788448" y="29917225"/>
                <a:ext cx="349309" cy="506871"/>
              </a:xfrm>
              <a:prstGeom prst="curvedConnector2">
                <a:avLst/>
              </a:prstGeom>
              <a:solidFill>
                <a:srgbClr val="000000">
                  <a:alpha val="5000"/>
                </a:srgbClr>
              </a:solidFill>
              <a:ln w="57150">
                <a:solidFill>
                  <a:srgbClr val="FF8E0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53A809FD-88B8-B6EE-B2C6-E93338C2F0BE}"/>
                  </a:ext>
                </a:extLst>
              </p:cNvPr>
              <p:cNvSpPr/>
              <p:nvPr/>
            </p:nvSpPr>
            <p:spPr>
              <a:xfrm>
                <a:off x="22714386" y="29761211"/>
                <a:ext cx="143708" cy="158713"/>
              </a:xfrm>
              <a:prstGeom prst="triangle">
                <a:avLst/>
              </a:prstGeom>
              <a:solidFill>
                <a:srgbClr val="FF8E06"/>
              </a:solidFill>
              <a:ln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Connector: Curved 23">
                <a:extLst>
                  <a:ext uri="{FF2B5EF4-FFF2-40B4-BE49-F238E27FC236}">
                    <a16:creationId xmlns:a16="http://schemas.microsoft.com/office/drawing/2014/main" id="{AF92875F-473B-89AB-84FB-E94C094F58E5}"/>
                  </a:ext>
                </a:extLst>
              </p:cNvPr>
              <p:cNvSpPr/>
              <p:nvPr/>
            </p:nvSpPr>
            <p:spPr>
              <a:xfrm flipH="1" flipV="1">
                <a:off x="24583994" y="29400254"/>
                <a:ext cx="45719" cy="523669"/>
              </a:xfrm>
              <a:prstGeom prst="curvedConnector2">
                <a:avLst/>
              </a:prstGeom>
              <a:solidFill>
                <a:srgbClr val="000000">
                  <a:alpha val="5000"/>
                </a:srgbClr>
              </a:solidFill>
              <a:ln w="57150">
                <a:solidFill>
                  <a:srgbClr val="FF8E0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 anchorCtr="1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E195BC1D-F06D-16B3-A490-FA296D0832DA}"/>
                  </a:ext>
                </a:extLst>
              </p:cNvPr>
              <p:cNvSpPr/>
              <p:nvPr/>
            </p:nvSpPr>
            <p:spPr>
              <a:xfrm rot="10800000">
                <a:off x="24535991" y="29844566"/>
                <a:ext cx="143708" cy="158713"/>
              </a:xfrm>
              <a:prstGeom prst="triangle">
                <a:avLst/>
              </a:prstGeom>
              <a:solidFill>
                <a:srgbClr val="FF8E06"/>
              </a:solidFill>
              <a:ln>
                <a:solidFill>
                  <a:srgbClr val="FF8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DFCBE082-8B49-FBC6-22C3-9F04DBA75C98}"/>
                  </a:ext>
                </a:extLst>
              </p:cNvPr>
              <p:cNvSpPr/>
              <p:nvPr/>
            </p:nvSpPr>
            <p:spPr>
              <a:xfrm rot="3460301">
                <a:off x="23360170" y="28710559"/>
                <a:ext cx="158614" cy="114363"/>
              </a:xfrm>
              <a:prstGeom prst="triangle">
                <a:avLst/>
              </a:prstGeom>
              <a:solidFill>
                <a:srgbClr val="017F01"/>
              </a:solidFill>
              <a:ln>
                <a:solidFill>
                  <a:srgbClr val="017F0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0297208B-04FC-E6A7-23C7-5605BBE84E24}"/>
                  </a:ext>
                </a:extLst>
              </p:cNvPr>
              <p:cNvSpPr/>
              <p:nvPr/>
            </p:nvSpPr>
            <p:spPr>
              <a:xfrm rot="16200000">
                <a:off x="24051189" y="28503736"/>
                <a:ext cx="158614" cy="114363"/>
              </a:xfrm>
              <a:prstGeom prst="triangle">
                <a:avLst/>
              </a:prstGeom>
              <a:solidFill>
                <a:srgbClr val="017F01"/>
              </a:solidFill>
              <a:ln>
                <a:solidFill>
                  <a:srgbClr val="017F0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4721650-8F05-F505-DDBB-CB1509C55D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732390" y="29400254"/>
                <a:ext cx="592117" cy="307429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72EE135-7864-49B3-6599-EE7336D0D8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579064" y="28337176"/>
                <a:ext cx="68838" cy="684932"/>
              </a:xfrm>
              <a:prstGeom prst="straightConnector1">
                <a:avLst/>
              </a:prstGeom>
              <a:ln w="57150">
                <a:solidFill>
                  <a:srgbClr val="0000FF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30F9E80-8056-82B2-C64F-35E42A6797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064919" y="28976872"/>
                <a:ext cx="1097127" cy="36931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Connector: Curved 14">
              <a:extLst>
                <a:ext uri="{FF2B5EF4-FFF2-40B4-BE49-F238E27FC236}">
                  <a16:creationId xmlns:a16="http://schemas.microsoft.com/office/drawing/2014/main" id="{2E439C8C-9F07-982C-8A80-138D4AA5FB7F}"/>
                </a:ext>
              </a:extLst>
            </p:cNvPr>
            <p:cNvSpPr/>
            <p:nvPr/>
          </p:nvSpPr>
          <p:spPr>
            <a:xfrm flipV="1">
              <a:off x="4736976" y="5130977"/>
              <a:ext cx="182880" cy="548640"/>
            </a:xfrm>
            <a:prstGeom prst="curvedConnector2">
              <a:avLst/>
            </a:prstGeom>
            <a:solidFill>
              <a:srgbClr val="000000">
                <a:alpha val="5000"/>
              </a:srgbClr>
            </a:solidFill>
            <a:ln w="57150">
              <a:solidFill>
                <a:srgbClr val="FF8E0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rtlCol="0" anchor="ctr" anchorCtr="1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7979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64C1-F91C-3835-85EC-F090342C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2640D-0643-FC02-CD62-833E31DDB7AB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</a:t>
            </a:r>
            <a:r>
              <a:rPr lang="en-US" b="1" dirty="0"/>
              <a:t>DOS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70E21-7A2E-AC92-7DC8-55A27CF9EFAB}"/>
              </a:ext>
            </a:extLst>
          </p:cNvPr>
          <p:cNvSpPr txBox="1"/>
          <p:nvPr/>
        </p:nvSpPr>
        <p:spPr>
          <a:xfrm>
            <a:off x="3520068" y="86344"/>
            <a:ext cx="5151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ICE - </a:t>
            </a:r>
            <a:r>
              <a:rPr lang="en-US" sz="4800" dirty="0" err="1"/>
              <a:t>Ih</a:t>
            </a:r>
            <a:endParaRPr lang="en-US" sz="48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9DC43B1-015E-DBB1-D7F3-CFBAFFF7D3BB}"/>
              </a:ext>
            </a:extLst>
          </p:cNvPr>
          <p:cNvSpPr txBox="1">
            <a:spLocks/>
          </p:cNvSpPr>
          <p:nvPr/>
        </p:nvSpPr>
        <p:spPr>
          <a:xfrm>
            <a:off x="841918" y="1370578"/>
            <a:ext cx="10515600" cy="28913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632 Molecules (1896 atoms)</a:t>
            </a:r>
          </a:p>
          <a:p>
            <a:endParaRPr lang="en-US" dirty="0"/>
          </a:p>
          <a:p>
            <a:r>
              <a:rPr lang="en-US" dirty="0"/>
              <a:t>T = 94K </a:t>
            </a:r>
          </a:p>
          <a:p>
            <a:endParaRPr lang="en-US" dirty="0"/>
          </a:p>
          <a:p>
            <a:r>
              <a:rPr lang="en-US" dirty="0"/>
              <a:t>Pressure = 1.5 bar</a:t>
            </a:r>
          </a:p>
          <a:p>
            <a:endParaRPr lang="en-US" dirty="0"/>
          </a:p>
          <a:p>
            <a:r>
              <a:rPr lang="en-US" dirty="0"/>
              <a:t>Density = 980 kg/m3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421A3E-7ADD-6004-63B9-500722327286}"/>
              </a:ext>
            </a:extLst>
          </p:cNvPr>
          <p:cNvGrpSpPr/>
          <p:nvPr/>
        </p:nvGrpSpPr>
        <p:grpSpPr>
          <a:xfrm>
            <a:off x="7966987" y="1601222"/>
            <a:ext cx="3383095" cy="3886200"/>
            <a:chOff x="23022410" y="21112281"/>
            <a:chExt cx="3383095" cy="3886200"/>
          </a:xfrm>
        </p:grpSpPr>
        <p:pic>
          <p:nvPicPr>
            <p:cNvPr id="7" name="Picture 6" descr="Water Molecule | Definition, Facts &amp; Structure - Lesson | Study.com">
              <a:extLst>
                <a:ext uri="{FF2B5EF4-FFF2-40B4-BE49-F238E27FC236}">
                  <a16:creationId xmlns:a16="http://schemas.microsoft.com/office/drawing/2014/main" id="{BCEEBA2A-AB40-4842-81C9-3EF0CDF16A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8857">
              <a:off x="23022410" y="21112281"/>
              <a:ext cx="2857500" cy="3886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7A2FAB7-C145-8E92-184D-739CF8096ECC}"/>
                </a:ext>
              </a:extLst>
            </p:cNvPr>
            <p:cNvCxnSpPr>
              <a:cxnSpLocks/>
            </p:cNvCxnSpPr>
            <p:nvPr/>
          </p:nvCxnSpPr>
          <p:spPr>
            <a:xfrm>
              <a:off x="24207476" y="21563443"/>
              <a:ext cx="600908" cy="778471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63989DA-36DC-7280-9682-661438063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79664" y="22842593"/>
              <a:ext cx="778978" cy="12155"/>
            </a:xfrm>
            <a:prstGeom prst="straightConnector1">
              <a:avLst/>
            </a:prstGeom>
            <a:ln w="57150">
              <a:solidFill>
                <a:srgbClr val="FF8E06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40A7955-F4FD-04FC-1921-F8398BC412A3}"/>
                </a:ext>
              </a:extLst>
            </p:cNvPr>
            <p:cNvCxnSpPr>
              <a:cxnSpLocks/>
            </p:cNvCxnSpPr>
            <p:nvPr/>
          </p:nvCxnSpPr>
          <p:spPr>
            <a:xfrm>
              <a:off x="23211987" y="21197656"/>
              <a:ext cx="1433713" cy="1215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D05205A-8C30-7194-104C-ADECB0705A3F}"/>
                </a:ext>
              </a:extLst>
            </p:cNvPr>
            <p:cNvCxnSpPr>
              <a:cxnSpLocks/>
            </p:cNvCxnSpPr>
            <p:nvPr/>
          </p:nvCxnSpPr>
          <p:spPr>
            <a:xfrm>
              <a:off x="24159981" y="22847950"/>
              <a:ext cx="2245524" cy="10186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8F0D9CE-76EC-620A-D549-5BB87CB20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21270" y="24516512"/>
              <a:ext cx="1458849" cy="1758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C59E7A4-F8CF-F0C6-A14D-8B5FA996C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02828" y="23444247"/>
              <a:ext cx="567758" cy="781247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ED0130-D703-E81D-4ACC-36DEC418AC5C}"/>
                </a:ext>
              </a:extLst>
            </p:cNvPr>
            <p:cNvSpPr/>
            <p:nvPr/>
          </p:nvSpPr>
          <p:spPr>
            <a:xfrm>
              <a:off x="23580125" y="21521086"/>
              <a:ext cx="323624" cy="2806996"/>
            </a:xfrm>
            <a:custGeom>
              <a:avLst/>
              <a:gdLst>
                <a:gd name="csX0" fmla="*/ 500163 w 574591"/>
                <a:gd name="csY0" fmla="*/ 0 h 2806996"/>
                <a:gd name="csX1" fmla="*/ 433 w 574591"/>
                <a:gd name="csY1" fmla="*/ 1329070 h 2806996"/>
                <a:gd name="csX2" fmla="*/ 574591 w 574591"/>
                <a:gd name="csY2" fmla="*/ 2806996 h 28069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74591" h="2806996">
                  <a:moveTo>
                    <a:pt x="500163" y="0"/>
                  </a:moveTo>
                  <a:cubicBezTo>
                    <a:pt x="244095" y="430618"/>
                    <a:pt x="-11972" y="861237"/>
                    <a:pt x="433" y="1329070"/>
                  </a:cubicBezTo>
                  <a:cubicBezTo>
                    <a:pt x="12838" y="1796903"/>
                    <a:pt x="293714" y="2301949"/>
                    <a:pt x="574591" y="2806996"/>
                  </a:cubicBezTo>
                </a:path>
              </a:pathLst>
            </a:custGeom>
            <a:noFill/>
            <a:ln w="57150">
              <a:solidFill>
                <a:srgbClr val="FF8E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8E6F7EB-45DD-7C0F-9399-08C39CBB0F99}"/>
                </a:ext>
              </a:extLst>
            </p:cNvPr>
            <p:cNvSpPr/>
            <p:nvPr/>
          </p:nvSpPr>
          <p:spPr>
            <a:xfrm rot="442379">
              <a:off x="23401654" y="21248261"/>
              <a:ext cx="206467" cy="921103"/>
            </a:xfrm>
            <a:custGeom>
              <a:avLst/>
              <a:gdLst>
                <a:gd name="csX0" fmla="*/ 206467 w 206467"/>
                <a:gd name="csY0" fmla="*/ 0 h 1111170"/>
                <a:gd name="csX1" fmla="*/ 27059 w 206467"/>
                <a:gd name="csY1" fmla="*/ 590309 h 1111170"/>
                <a:gd name="csX2" fmla="*/ 3910 w 206467"/>
                <a:gd name="csY2" fmla="*/ 1111170 h 111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6467" h="1111170">
                  <a:moveTo>
                    <a:pt x="206467" y="0"/>
                  </a:moveTo>
                  <a:cubicBezTo>
                    <a:pt x="133642" y="202557"/>
                    <a:pt x="60818" y="405114"/>
                    <a:pt x="27059" y="590309"/>
                  </a:cubicBezTo>
                  <a:cubicBezTo>
                    <a:pt x="-6701" y="775504"/>
                    <a:pt x="-1396" y="943337"/>
                    <a:pt x="3910" y="1111170"/>
                  </a:cubicBezTo>
                </a:path>
              </a:pathLst>
            </a:custGeom>
            <a:noFill/>
            <a:ln w="57150"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C6CFA7-1E60-B719-22BA-5B361ADB91A3}"/>
                </a:ext>
              </a:extLst>
            </p:cNvPr>
            <p:cNvSpPr/>
            <p:nvPr/>
          </p:nvSpPr>
          <p:spPr>
            <a:xfrm rot="20068029">
              <a:off x="23375531" y="23347369"/>
              <a:ext cx="216967" cy="1151640"/>
            </a:xfrm>
            <a:custGeom>
              <a:avLst/>
              <a:gdLst>
                <a:gd name="csX0" fmla="*/ 206467 w 206467"/>
                <a:gd name="csY0" fmla="*/ 0 h 1111170"/>
                <a:gd name="csX1" fmla="*/ 27059 w 206467"/>
                <a:gd name="csY1" fmla="*/ 590309 h 1111170"/>
                <a:gd name="csX2" fmla="*/ 3910 w 206467"/>
                <a:gd name="csY2" fmla="*/ 1111170 h 111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6467" h="1111170">
                  <a:moveTo>
                    <a:pt x="206467" y="0"/>
                  </a:moveTo>
                  <a:cubicBezTo>
                    <a:pt x="133642" y="202557"/>
                    <a:pt x="60818" y="405114"/>
                    <a:pt x="27059" y="590309"/>
                  </a:cubicBezTo>
                  <a:cubicBezTo>
                    <a:pt x="-6701" y="775504"/>
                    <a:pt x="-1396" y="943337"/>
                    <a:pt x="3910" y="1111170"/>
                  </a:cubicBezTo>
                </a:path>
              </a:pathLst>
            </a:custGeom>
            <a:noFill/>
            <a:ln w="57150"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9F5C9BC9-9FE7-6025-B813-54A94C100C4D}"/>
                </a:ext>
              </a:extLst>
            </p:cNvPr>
            <p:cNvSpPr/>
            <p:nvPr/>
          </p:nvSpPr>
          <p:spPr>
            <a:xfrm>
              <a:off x="23245119" y="23238383"/>
              <a:ext cx="184706" cy="182965"/>
            </a:xfrm>
            <a:prstGeom prst="triangle">
              <a:avLst/>
            </a:prstGeom>
            <a:solidFill>
              <a:srgbClr val="017F01"/>
            </a:solidFill>
            <a:ln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0E8685C-3588-7AF6-E9C5-34B6114A5D0D}"/>
                </a:ext>
              </a:extLst>
            </p:cNvPr>
            <p:cNvSpPr/>
            <p:nvPr/>
          </p:nvSpPr>
          <p:spPr>
            <a:xfrm rot="10800000">
              <a:off x="23267826" y="22100811"/>
              <a:ext cx="184706" cy="182965"/>
            </a:xfrm>
            <a:prstGeom prst="triangle">
              <a:avLst/>
            </a:prstGeom>
            <a:solidFill>
              <a:srgbClr val="017F01"/>
            </a:solidFill>
            <a:ln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4688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569808-5144-6E62-AEE1-318A68F830B7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</a:t>
            </a:r>
            <a:r>
              <a:rPr lang="en-US" b="1" dirty="0"/>
              <a:t>DOS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5BB18-5104-6FBC-D08F-F610B8243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95" y="1341087"/>
            <a:ext cx="8887033" cy="4368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D16489-7E69-A3BA-EA34-D933A8EAA1DB}"/>
              </a:ext>
            </a:extLst>
          </p:cNvPr>
          <p:cNvSpPr txBox="1"/>
          <p:nvPr/>
        </p:nvSpPr>
        <p:spPr>
          <a:xfrm>
            <a:off x="3520068" y="86344"/>
            <a:ext cx="5151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ICE - </a:t>
            </a:r>
            <a:r>
              <a:rPr lang="en-US" sz="4800" dirty="0" err="1"/>
              <a:t>Ih</a:t>
            </a:r>
            <a:endParaRPr lang="en-US" sz="4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41E26F-5228-5721-26B8-24433A93DF33}"/>
              </a:ext>
            </a:extLst>
          </p:cNvPr>
          <p:cNvGrpSpPr/>
          <p:nvPr/>
        </p:nvGrpSpPr>
        <p:grpSpPr>
          <a:xfrm>
            <a:off x="9210908" y="2018371"/>
            <a:ext cx="2797097" cy="3201422"/>
            <a:chOff x="23022410" y="21112281"/>
            <a:chExt cx="3383095" cy="3886200"/>
          </a:xfrm>
        </p:grpSpPr>
        <p:pic>
          <p:nvPicPr>
            <p:cNvPr id="13" name="Picture 12" descr="Water Molecule | Definition, Facts &amp; Structure - Lesson | Study.com">
              <a:extLst>
                <a:ext uri="{FF2B5EF4-FFF2-40B4-BE49-F238E27FC236}">
                  <a16:creationId xmlns:a16="http://schemas.microsoft.com/office/drawing/2014/main" id="{23148767-7630-411B-4543-63E9386ED9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8857">
              <a:off x="23022410" y="21112281"/>
              <a:ext cx="2857500" cy="3886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F044596-78E4-AF82-B220-A0D78DFDACE8}"/>
                </a:ext>
              </a:extLst>
            </p:cNvPr>
            <p:cNvCxnSpPr>
              <a:cxnSpLocks/>
            </p:cNvCxnSpPr>
            <p:nvPr/>
          </p:nvCxnSpPr>
          <p:spPr>
            <a:xfrm>
              <a:off x="24207476" y="21563443"/>
              <a:ext cx="600908" cy="778471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AC11280-AA27-3713-2BF0-53C9B4509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79664" y="22842593"/>
              <a:ext cx="778978" cy="12155"/>
            </a:xfrm>
            <a:prstGeom prst="straightConnector1">
              <a:avLst/>
            </a:prstGeom>
            <a:ln w="57150">
              <a:solidFill>
                <a:srgbClr val="FF8E06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8BFFD83-4EAA-F9FB-E6B5-1AD4A3551E63}"/>
                </a:ext>
              </a:extLst>
            </p:cNvPr>
            <p:cNvCxnSpPr>
              <a:cxnSpLocks/>
            </p:cNvCxnSpPr>
            <p:nvPr/>
          </p:nvCxnSpPr>
          <p:spPr>
            <a:xfrm>
              <a:off x="23211987" y="21197656"/>
              <a:ext cx="1433713" cy="1215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D82E037-81E9-0C78-6DA8-1C7DE4397E52}"/>
                </a:ext>
              </a:extLst>
            </p:cNvPr>
            <p:cNvCxnSpPr>
              <a:cxnSpLocks/>
            </p:cNvCxnSpPr>
            <p:nvPr/>
          </p:nvCxnSpPr>
          <p:spPr>
            <a:xfrm>
              <a:off x="24159981" y="22847950"/>
              <a:ext cx="2245524" cy="10186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957048B-BDDA-138E-E317-F89C2B68A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21270" y="24516512"/>
              <a:ext cx="1458849" cy="1758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5214186-B897-00EF-C2B5-17B77B2DE4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02828" y="23444247"/>
              <a:ext cx="567758" cy="781247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DDD9CBC-C98A-A909-9F41-79ED00C986F3}"/>
                </a:ext>
              </a:extLst>
            </p:cNvPr>
            <p:cNvSpPr/>
            <p:nvPr/>
          </p:nvSpPr>
          <p:spPr>
            <a:xfrm>
              <a:off x="23580125" y="21521086"/>
              <a:ext cx="323624" cy="2806996"/>
            </a:xfrm>
            <a:custGeom>
              <a:avLst/>
              <a:gdLst>
                <a:gd name="csX0" fmla="*/ 500163 w 574591"/>
                <a:gd name="csY0" fmla="*/ 0 h 2806996"/>
                <a:gd name="csX1" fmla="*/ 433 w 574591"/>
                <a:gd name="csY1" fmla="*/ 1329070 h 2806996"/>
                <a:gd name="csX2" fmla="*/ 574591 w 574591"/>
                <a:gd name="csY2" fmla="*/ 2806996 h 28069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74591" h="2806996">
                  <a:moveTo>
                    <a:pt x="500163" y="0"/>
                  </a:moveTo>
                  <a:cubicBezTo>
                    <a:pt x="244095" y="430618"/>
                    <a:pt x="-11972" y="861237"/>
                    <a:pt x="433" y="1329070"/>
                  </a:cubicBezTo>
                  <a:cubicBezTo>
                    <a:pt x="12838" y="1796903"/>
                    <a:pt x="293714" y="2301949"/>
                    <a:pt x="574591" y="2806996"/>
                  </a:cubicBezTo>
                </a:path>
              </a:pathLst>
            </a:custGeom>
            <a:noFill/>
            <a:ln w="57150">
              <a:solidFill>
                <a:srgbClr val="FF8E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D853EE8-C6D6-ECE8-0A31-316B3E5FEE39}"/>
                </a:ext>
              </a:extLst>
            </p:cNvPr>
            <p:cNvSpPr/>
            <p:nvPr/>
          </p:nvSpPr>
          <p:spPr>
            <a:xfrm rot="442379">
              <a:off x="23401654" y="21248261"/>
              <a:ext cx="206467" cy="921103"/>
            </a:xfrm>
            <a:custGeom>
              <a:avLst/>
              <a:gdLst>
                <a:gd name="csX0" fmla="*/ 206467 w 206467"/>
                <a:gd name="csY0" fmla="*/ 0 h 1111170"/>
                <a:gd name="csX1" fmla="*/ 27059 w 206467"/>
                <a:gd name="csY1" fmla="*/ 590309 h 1111170"/>
                <a:gd name="csX2" fmla="*/ 3910 w 206467"/>
                <a:gd name="csY2" fmla="*/ 1111170 h 111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6467" h="1111170">
                  <a:moveTo>
                    <a:pt x="206467" y="0"/>
                  </a:moveTo>
                  <a:cubicBezTo>
                    <a:pt x="133642" y="202557"/>
                    <a:pt x="60818" y="405114"/>
                    <a:pt x="27059" y="590309"/>
                  </a:cubicBezTo>
                  <a:cubicBezTo>
                    <a:pt x="-6701" y="775504"/>
                    <a:pt x="-1396" y="943337"/>
                    <a:pt x="3910" y="1111170"/>
                  </a:cubicBezTo>
                </a:path>
              </a:pathLst>
            </a:custGeom>
            <a:noFill/>
            <a:ln w="57150"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0530596-E5FA-143C-DE77-69355DC3AFFB}"/>
                </a:ext>
              </a:extLst>
            </p:cNvPr>
            <p:cNvSpPr/>
            <p:nvPr/>
          </p:nvSpPr>
          <p:spPr>
            <a:xfrm rot="20068029">
              <a:off x="23375531" y="23347369"/>
              <a:ext cx="216967" cy="1151640"/>
            </a:xfrm>
            <a:custGeom>
              <a:avLst/>
              <a:gdLst>
                <a:gd name="csX0" fmla="*/ 206467 w 206467"/>
                <a:gd name="csY0" fmla="*/ 0 h 1111170"/>
                <a:gd name="csX1" fmla="*/ 27059 w 206467"/>
                <a:gd name="csY1" fmla="*/ 590309 h 1111170"/>
                <a:gd name="csX2" fmla="*/ 3910 w 206467"/>
                <a:gd name="csY2" fmla="*/ 1111170 h 111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6467" h="1111170">
                  <a:moveTo>
                    <a:pt x="206467" y="0"/>
                  </a:moveTo>
                  <a:cubicBezTo>
                    <a:pt x="133642" y="202557"/>
                    <a:pt x="60818" y="405114"/>
                    <a:pt x="27059" y="590309"/>
                  </a:cubicBezTo>
                  <a:cubicBezTo>
                    <a:pt x="-6701" y="775504"/>
                    <a:pt x="-1396" y="943337"/>
                    <a:pt x="3910" y="1111170"/>
                  </a:cubicBezTo>
                </a:path>
              </a:pathLst>
            </a:custGeom>
            <a:noFill/>
            <a:ln w="57150"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0E920426-0501-6A89-3097-19732BDBD61A}"/>
                </a:ext>
              </a:extLst>
            </p:cNvPr>
            <p:cNvSpPr/>
            <p:nvPr/>
          </p:nvSpPr>
          <p:spPr>
            <a:xfrm>
              <a:off x="23245119" y="23238383"/>
              <a:ext cx="184706" cy="182965"/>
            </a:xfrm>
            <a:prstGeom prst="triangle">
              <a:avLst/>
            </a:prstGeom>
            <a:solidFill>
              <a:srgbClr val="017F01"/>
            </a:solidFill>
            <a:ln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1867BA5A-D3E0-AB2E-0F7E-252ED1B3E386}"/>
                </a:ext>
              </a:extLst>
            </p:cNvPr>
            <p:cNvSpPr/>
            <p:nvPr/>
          </p:nvSpPr>
          <p:spPr>
            <a:xfrm rot="10800000">
              <a:off x="23267826" y="22100811"/>
              <a:ext cx="184706" cy="182965"/>
            </a:xfrm>
            <a:prstGeom prst="triangle">
              <a:avLst/>
            </a:prstGeom>
            <a:solidFill>
              <a:srgbClr val="017F01"/>
            </a:solidFill>
            <a:ln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952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45511-FAE5-94B3-0787-0FB7122B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D539B8-EDCE-F9EA-B718-457C81025A46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</a:t>
            </a:r>
            <a:r>
              <a:rPr lang="en-US" b="1" dirty="0"/>
              <a:t>DOS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88E74-A16B-727D-0113-87AFAABD7AD3}"/>
              </a:ext>
            </a:extLst>
          </p:cNvPr>
          <p:cNvSpPr txBox="1"/>
          <p:nvPr/>
        </p:nvSpPr>
        <p:spPr>
          <a:xfrm>
            <a:off x="3520068" y="86344"/>
            <a:ext cx="5151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D2O ICE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78FEEF-9ACA-C3F0-01D8-CB9C26C64322}"/>
              </a:ext>
            </a:extLst>
          </p:cNvPr>
          <p:cNvSpPr txBox="1">
            <a:spLocks/>
          </p:cNvSpPr>
          <p:nvPr/>
        </p:nvSpPr>
        <p:spPr>
          <a:xfrm>
            <a:off x="841918" y="1370578"/>
            <a:ext cx="10515600" cy="28913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632 Molecules (1896 atoms)</a:t>
            </a:r>
          </a:p>
          <a:p>
            <a:endParaRPr lang="en-US" dirty="0"/>
          </a:p>
          <a:p>
            <a:r>
              <a:rPr lang="en-US" dirty="0"/>
              <a:t>T = 94K </a:t>
            </a:r>
          </a:p>
          <a:p>
            <a:endParaRPr lang="en-US" dirty="0"/>
          </a:p>
          <a:p>
            <a:r>
              <a:rPr lang="en-US" dirty="0"/>
              <a:t>Pressure = 1.5 bar</a:t>
            </a:r>
          </a:p>
          <a:p>
            <a:endParaRPr lang="en-US" dirty="0"/>
          </a:p>
          <a:p>
            <a:r>
              <a:rPr lang="en-US" dirty="0"/>
              <a:t>Density = 1,100 kg/m3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0337CD-BE44-E8D8-F5FF-02AEFEF5A5B5}"/>
              </a:ext>
            </a:extLst>
          </p:cNvPr>
          <p:cNvGrpSpPr/>
          <p:nvPr/>
        </p:nvGrpSpPr>
        <p:grpSpPr>
          <a:xfrm>
            <a:off x="7966987" y="1601222"/>
            <a:ext cx="3383095" cy="3886200"/>
            <a:chOff x="23022410" y="21112281"/>
            <a:chExt cx="3383095" cy="3886200"/>
          </a:xfrm>
        </p:grpSpPr>
        <p:pic>
          <p:nvPicPr>
            <p:cNvPr id="7" name="Picture 6" descr="Water Molecule | Definition, Facts &amp; Structure - Lesson | Study.com">
              <a:extLst>
                <a:ext uri="{FF2B5EF4-FFF2-40B4-BE49-F238E27FC236}">
                  <a16:creationId xmlns:a16="http://schemas.microsoft.com/office/drawing/2014/main" id="{826DC757-C010-1D4C-A8E1-12841A9060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8857">
              <a:off x="23022410" y="21112281"/>
              <a:ext cx="2857500" cy="3886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00A1A1A-DD73-CC22-BAA8-D20A55F63EF4}"/>
                </a:ext>
              </a:extLst>
            </p:cNvPr>
            <p:cNvCxnSpPr>
              <a:cxnSpLocks/>
            </p:cNvCxnSpPr>
            <p:nvPr/>
          </p:nvCxnSpPr>
          <p:spPr>
            <a:xfrm>
              <a:off x="24207476" y="21563443"/>
              <a:ext cx="600908" cy="778471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F652F82-D7B1-C207-57CB-FCAFC93A4E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79664" y="22842593"/>
              <a:ext cx="778978" cy="12155"/>
            </a:xfrm>
            <a:prstGeom prst="straightConnector1">
              <a:avLst/>
            </a:prstGeom>
            <a:ln w="57150">
              <a:solidFill>
                <a:srgbClr val="FF8E06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7F92FC8-DE9B-E0B6-1E9F-05DE4791E29F}"/>
                </a:ext>
              </a:extLst>
            </p:cNvPr>
            <p:cNvCxnSpPr>
              <a:cxnSpLocks/>
            </p:cNvCxnSpPr>
            <p:nvPr/>
          </p:nvCxnSpPr>
          <p:spPr>
            <a:xfrm>
              <a:off x="23211987" y="21197656"/>
              <a:ext cx="1433713" cy="1215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FCDE4B2-452E-6DCB-66E2-E69A6A6CC1AD}"/>
                </a:ext>
              </a:extLst>
            </p:cNvPr>
            <p:cNvCxnSpPr>
              <a:cxnSpLocks/>
            </p:cNvCxnSpPr>
            <p:nvPr/>
          </p:nvCxnSpPr>
          <p:spPr>
            <a:xfrm>
              <a:off x="24159981" y="22847950"/>
              <a:ext cx="2245524" cy="10186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71FFD2E-973D-7B85-4492-EB7FB4819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21270" y="24516512"/>
              <a:ext cx="1458849" cy="1758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A4D601-9891-0B63-9D55-7D89D61D29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02828" y="23444247"/>
              <a:ext cx="567758" cy="781247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68AB6E1-1726-FDF1-3A03-AA88D0CDBD82}"/>
                </a:ext>
              </a:extLst>
            </p:cNvPr>
            <p:cNvSpPr/>
            <p:nvPr/>
          </p:nvSpPr>
          <p:spPr>
            <a:xfrm>
              <a:off x="23580125" y="21521086"/>
              <a:ext cx="323624" cy="2806996"/>
            </a:xfrm>
            <a:custGeom>
              <a:avLst/>
              <a:gdLst>
                <a:gd name="csX0" fmla="*/ 500163 w 574591"/>
                <a:gd name="csY0" fmla="*/ 0 h 2806996"/>
                <a:gd name="csX1" fmla="*/ 433 w 574591"/>
                <a:gd name="csY1" fmla="*/ 1329070 h 2806996"/>
                <a:gd name="csX2" fmla="*/ 574591 w 574591"/>
                <a:gd name="csY2" fmla="*/ 2806996 h 28069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74591" h="2806996">
                  <a:moveTo>
                    <a:pt x="500163" y="0"/>
                  </a:moveTo>
                  <a:cubicBezTo>
                    <a:pt x="244095" y="430618"/>
                    <a:pt x="-11972" y="861237"/>
                    <a:pt x="433" y="1329070"/>
                  </a:cubicBezTo>
                  <a:cubicBezTo>
                    <a:pt x="12838" y="1796903"/>
                    <a:pt x="293714" y="2301949"/>
                    <a:pt x="574591" y="2806996"/>
                  </a:cubicBezTo>
                </a:path>
              </a:pathLst>
            </a:custGeom>
            <a:noFill/>
            <a:ln w="57150">
              <a:solidFill>
                <a:srgbClr val="FF8E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D710B64-DAE3-4AF6-F15F-F5CFD78BCE6F}"/>
                </a:ext>
              </a:extLst>
            </p:cNvPr>
            <p:cNvSpPr/>
            <p:nvPr/>
          </p:nvSpPr>
          <p:spPr>
            <a:xfrm rot="442379">
              <a:off x="23401654" y="21248261"/>
              <a:ext cx="206467" cy="921103"/>
            </a:xfrm>
            <a:custGeom>
              <a:avLst/>
              <a:gdLst>
                <a:gd name="csX0" fmla="*/ 206467 w 206467"/>
                <a:gd name="csY0" fmla="*/ 0 h 1111170"/>
                <a:gd name="csX1" fmla="*/ 27059 w 206467"/>
                <a:gd name="csY1" fmla="*/ 590309 h 1111170"/>
                <a:gd name="csX2" fmla="*/ 3910 w 206467"/>
                <a:gd name="csY2" fmla="*/ 1111170 h 111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6467" h="1111170">
                  <a:moveTo>
                    <a:pt x="206467" y="0"/>
                  </a:moveTo>
                  <a:cubicBezTo>
                    <a:pt x="133642" y="202557"/>
                    <a:pt x="60818" y="405114"/>
                    <a:pt x="27059" y="590309"/>
                  </a:cubicBezTo>
                  <a:cubicBezTo>
                    <a:pt x="-6701" y="775504"/>
                    <a:pt x="-1396" y="943337"/>
                    <a:pt x="3910" y="1111170"/>
                  </a:cubicBezTo>
                </a:path>
              </a:pathLst>
            </a:custGeom>
            <a:noFill/>
            <a:ln w="57150"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332D9AE-D4BF-4E81-4004-CE3967086607}"/>
                </a:ext>
              </a:extLst>
            </p:cNvPr>
            <p:cNvSpPr/>
            <p:nvPr/>
          </p:nvSpPr>
          <p:spPr>
            <a:xfrm rot="20068029">
              <a:off x="23375531" y="23347369"/>
              <a:ext cx="216967" cy="1151640"/>
            </a:xfrm>
            <a:custGeom>
              <a:avLst/>
              <a:gdLst>
                <a:gd name="csX0" fmla="*/ 206467 w 206467"/>
                <a:gd name="csY0" fmla="*/ 0 h 1111170"/>
                <a:gd name="csX1" fmla="*/ 27059 w 206467"/>
                <a:gd name="csY1" fmla="*/ 590309 h 1111170"/>
                <a:gd name="csX2" fmla="*/ 3910 w 206467"/>
                <a:gd name="csY2" fmla="*/ 1111170 h 111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6467" h="1111170">
                  <a:moveTo>
                    <a:pt x="206467" y="0"/>
                  </a:moveTo>
                  <a:cubicBezTo>
                    <a:pt x="133642" y="202557"/>
                    <a:pt x="60818" y="405114"/>
                    <a:pt x="27059" y="590309"/>
                  </a:cubicBezTo>
                  <a:cubicBezTo>
                    <a:pt x="-6701" y="775504"/>
                    <a:pt x="-1396" y="943337"/>
                    <a:pt x="3910" y="1111170"/>
                  </a:cubicBezTo>
                </a:path>
              </a:pathLst>
            </a:custGeom>
            <a:noFill/>
            <a:ln w="57150"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B18913D3-EDB3-897F-3D06-B8111B8928F1}"/>
                </a:ext>
              </a:extLst>
            </p:cNvPr>
            <p:cNvSpPr/>
            <p:nvPr/>
          </p:nvSpPr>
          <p:spPr>
            <a:xfrm>
              <a:off x="23245119" y="23238383"/>
              <a:ext cx="184706" cy="182965"/>
            </a:xfrm>
            <a:prstGeom prst="triangle">
              <a:avLst/>
            </a:prstGeom>
            <a:solidFill>
              <a:srgbClr val="017F01"/>
            </a:solidFill>
            <a:ln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E012330-A519-345D-EF7A-A2A49C5DB32C}"/>
                </a:ext>
              </a:extLst>
            </p:cNvPr>
            <p:cNvSpPr/>
            <p:nvPr/>
          </p:nvSpPr>
          <p:spPr>
            <a:xfrm rot="10800000">
              <a:off x="23267826" y="22100811"/>
              <a:ext cx="184706" cy="182965"/>
            </a:xfrm>
            <a:prstGeom prst="triangle">
              <a:avLst/>
            </a:prstGeom>
            <a:solidFill>
              <a:srgbClr val="017F01"/>
            </a:solidFill>
            <a:ln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6086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79553-CABE-CA23-565D-405CE110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5372E4-DE95-FA90-82DC-853536A6A0D0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</a:t>
            </a:r>
            <a:r>
              <a:rPr lang="en-US" b="1" dirty="0"/>
              <a:t>DOS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4AB47D-BB54-47C1-5F09-44E2498FD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95" y="1229297"/>
            <a:ext cx="8806825" cy="4399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1561F3-93A3-1B7D-CA7D-5C72EE32AD64}"/>
              </a:ext>
            </a:extLst>
          </p:cNvPr>
          <p:cNvSpPr txBox="1"/>
          <p:nvPr/>
        </p:nvSpPr>
        <p:spPr>
          <a:xfrm>
            <a:off x="3520068" y="86344"/>
            <a:ext cx="5151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D2O ICE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2E2047-BC3F-26EF-F5CD-802CCB363569}"/>
              </a:ext>
            </a:extLst>
          </p:cNvPr>
          <p:cNvGrpSpPr/>
          <p:nvPr/>
        </p:nvGrpSpPr>
        <p:grpSpPr>
          <a:xfrm>
            <a:off x="9210908" y="2018371"/>
            <a:ext cx="2797097" cy="3201422"/>
            <a:chOff x="23022410" y="21112281"/>
            <a:chExt cx="3383095" cy="3886200"/>
          </a:xfrm>
        </p:grpSpPr>
        <p:pic>
          <p:nvPicPr>
            <p:cNvPr id="21" name="Picture 20" descr="Water Molecule | Definition, Facts &amp; Structure - Lesson | Study.com">
              <a:extLst>
                <a:ext uri="{FF2B5EF4-FFF2-40B4-BE49-F238E27FC236}">
                  <a16:creationId xmlns:a16="http://schemas.microsoft.com/office/drawing/2014/main" id="{DB3D591E-CBA4-9220-58B3-4714D3267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8857">
              <a:off x="23022410" y="21112281"/>
              <a:ext cx="2857500" cy="3886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49EE1D9-FC1C-68BD-449D-4A267739A2E2}"/>
                </a:ext>
              </a:extLst>
            </p:cNvPr>
            <p:cNvCxnSpPr>
              <a:cxnSpLocks/>
            </p:cNvCxnSpPr>
            <p:nvPr/>
          </p:nvCxnSpPr>
          <p:spPr>
            <a:xfrm>
              <a:off x="24207476" y="21563443"/>
              <a:ext cx="600908" cy="778471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38F31FC-F851-78FB-BFE1-7248D8173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79664" y="22842593"/>
              <a:ext cx="778978" cy="12155"/>
            </a:xfrm>
            <a:prstGeom prst="straightConnector1">
              <a:avLst/>
            </a:prstGeom>
            <a:ln w="57150">
              <a:solidFill>
                <a:srgbClr val="FF8E06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DA780E3-0FFA-F8B9-F99D-9EDB399E9B92}"/>
                </a:ext>
              </a:extLst>
            </p:cNvPr>
            <p:cNvCxnSpPr>
              <a:cxnSpLocks/>
            </p:cNvCxnSpPr>
            <p:nvPr/>
          </p:nvCxnSpPr>
          <p:spPr>
            <a:xfrm>
              <a:off x="23211987" y="21197656"/>
              <a:ext cx="1433713" cy="1215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1B9CF4B-23D2-E986-9F9D-03DC064770D3}"/>
                </a:ext>
              </a:extLst>
            </p:cNvPr>
            <p:cNvCxnSpPr>
              <a:cxnSpLocks/>
            </p:cNvCxnSpPr>
            <p:nvPr/>
          </p:nvCxnSpPr>
          <p:spPr>
            <a:xfrm>
              <a:off x="24159981" y="22847950"/>
              <a:ext cx="2245524" cy="10186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A0E12DE-09CC-3F9E-B17C-896DA8BFF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21270" y="24516512"/>
              <a:ext cx="1458849" cy="1758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568EC76-FB10-DDC3-0623-C68004C4FA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02828" y="23444247"/>
              <a:ext cx="567758" cy="781247"/>
            </a:xfrm>
            <a:prstGeom prst="straightConnector1">
              <a:avLst/>
            </a:prstGeom>
            <a:ln w="57150">
              <a:solidFill>
                <a:srgbClr val="0000FF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21422E0-E0B9-8197-2AEC-1C3218C885D3}"/>
                </a:ext>
              </a:extLst>
            </p:cNvPr>
            <p:cNvSpPr/>
            <p:nvPr/>
          </p:nvSpPr>
          <p:spPr>
            <a:xfrm>
              <a:off x="23580125" y="21521086"/>
              <a:ext cx="323624" cy="2806996"/>
            </a:xfrm>
            <a:custGeom>
              <a:avLst/>
              <a:gdLst>
                <a:gd name="csX0" fmla="*/ 500163 w 574591"/>
                <a:gd name="csY0" fmla="*/ 0 h 2806996"/>
                <a:gd name="csX1" fmla="*/ 433 w 574591"/>
                <a:gd name="csY1" fmla="*/ 1329070 h 2806996"/>
                <a:gd name="csX2" fmla="*/ 574591 w 574591"/>
                <a:gd name="csY2" fmla="*/ 2806996 h 28069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74591" h="2806996">
                  <a:moveTo>
                    <a:pt x="500163" y="0"/>
                  </a:moveTo>
                  <a:cubicBezTo>
                    <a:pt x="244095" y="430618"/>
                    <a:pt x="-11972" y="861237"/>
                    <a:pt x="433" y="1329070"/>
                  </a:cubicBezTo>
                  <a:cubicBezTo>
                    <a:pt x="12838" y="1796903"/>
                    <a:pt x="293714" y="2301949"/>
                    <a:pt x="574591" y="2806996"/>
                  </a:cubicBezTo>
                </a:path>
              </a:pathLst>
            </a:custGeom>
            <a:noFill/>
            <a:ln w="57150">
              <a:solidFill>
                <a:srgbClr val="FF8E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E568E35-688D-3716-04E0-D7DCB9AED253}"/>
                </a:ext>
              </a:extLst>
            </p:cNvPr>
            <p:cNvSpPr/>
            <p:nvPr/>
          </p:nvSpPr>
          <p:spPr>
            <a:xfrm rot="442379">
              <a:off x="23401654" y="21248261"/>
              <a:ext cx="206467" cy="921103"/>
            </a:xfrm>
            <a:custGeom>
              <a:avLst/>
              <a:gdLst>
                <a:gd name="csX0" fmla="*/ 206467 w 206467"/>
                <a:gd name="csY0" fmla="*/ 0 h 1111170"/>
                <a:gd name="csX1" fmla="*/ 27059 w 206467"/>
                <a:gd name="csY1" fmla="*/ 590309 h 1111170"/>
                <a:gd name="csX2" fmla="*/ 3910 w 206467"/>
                <a:gd name="csY2" fmla="*/ 1111170 h 111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6467" h="1111170">
                  <a:moveTo>
                    <a:pt x="206467" y="0"/>
                  </a:moveTo>
                  <a:cubicBezTo>
                    <a:pt x="133642" y="202557"/>
                    <a:pt x="60818" y="405114"/>
                    <a:pt x="27059" y="590309"/>
                  </a:cubicBezTo>
                  <a:cubicBezTo>
                    <a:pt x="-6701" y="775504"/>
                    <a:pt x="-1396" y="943337"/>
                    <a:pt x="3910" y="1111170"/>
                  </a:cubicBezTo>
                </a:path>
              </a:pathLst>
            </a:custGeom>
            <a:noFill/>
            <a:ln w="57150"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9E28980-8174-3A92-BED0-3574B4C30BCA}"/>
                </a:ext>
              </a:extLst>
            </p:cNvPr>
            <p:cNvSpPr/>
            <p:nvPr/>
          </p:nvSpPr>
          <p:spPr>
            <a:xfrm rot="20068029">
              <a:off x="23375531" y="23347369"/>
              <a:ext cx="216967" cy="1151640"/>
            </a:xfrm>
            <a:custGeom>
              <a:avLst/>
              <a:gdLst>
                <a:gd name="csX0" fmla="*/ 206467 w 206467"/>
                <a:gd name="csY0" fmla="*/ 0 h 1111170"/>
                <a:gd name="csX1" fmla="*/ 27059 w 206467"/>
                <a:gd name="csY1" fmla="*/ 590309 h 1111170"/>
                <a:gd name="csX2" fmla="*/ 3910 w 206467"/>
                <a:gd name="csY2" fmla="*/ 1111170 h 111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6467" h="1111170">
                  <a:moveTo>
                    <a:pt x="206467" y="0"/>
                  </a:moveTo>
                  <a:cubicBezTo>
                    <a:pt x="133642" y="202557"/>
                    <a:pt x="60818" y="405114"/>
                    <a:pt x="27059" y="590309"/>
                  </a:cubicBezTo>
                  <a:cubicBezTo>
                    <a:pt x="-6701" y="775504"/>
                    <a:pt x="-1396" y="943337"/>
                    <a:pt x="3910" y="1111170"/>
                  </a:cubicBezTo>
                </a:path>
              </a:pathLst>
            </a:custGeom>
            <a:noFill/>
            <a:ln w="57150"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30937723-C4AC-1D74-6FBC-C3FC5A2FB1AA}"/>
                </a:ext>
              </a:extLst>
            </p:cNvPr>
            <p:cNvSpPr/>
            <p:nvPr/>
          </p:nvSpPr>
          <p:spPr>
            <a:xfrm>
              <a:off x="23245119" y="23238383"/>
              <a:ext cx="184706" cy="182965"/>
            </a:xfrm>
            <a:prstGeom prst="triangle">
              <a:avLst/>
            </a:prstGeom>
            <a:solidFill>
              <a:srgbClr val="017F01"/>
            </a:solidFill>
            <a:ln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EF0B6ED7-F311-70EE-9549-AFA4A669EDF6}"/>
                </a:ext>
              </a:extLst>
            </p:cNvPr>
            <p:cNvSpPr/>
            <p:nvPr/>
          </p:nvSpPr>
          <p:spPr>
            <a:xfrm rot="10800000">
              <a:off x="23267826" y="22100811"/>
              <a:ext cx="184706" cy="182965"/>
            </a:xfrm>
            <a:prstGeom prst="triangle">
              <a:avLst/>
            </a:prstGeom>
            <a:solidFill>
              <a:srgbClr val="017F01"/>
            </a:solidFill>
            <a:ln>
              <a:solidFill>
                <a:srgbClr val="017F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4771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4756-A6A9-ADDC-7BB6-15A1574B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CD2333-FE8C-172A-E85B-AF1615C797EA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</a:t>
            </a:r>
            <a:r>
              <a:rPr lang="en-US" b="1" dirty="0"/>
              <a:t>DOS Results</a:t>
            </a:r>
          </a:p>
        </p:txBody>
      </p:sp>
    </p:spTree>
    <p:extLst>
      <p:ext uri="{BB962C8B-B14F-4D97-AF65-F5344CB8AC3E}">
        <p14:creationId xmlns:p14="http://schemas.microsoft.com/office/powerpoint/2010/main" val="3030851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79F4E-4C76-1D6C-B083-F1884C27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9B7937-D16F-637E-A2DF-BA1807693A0E}"/>
              </a:ext>
            </a:extLst>
          </p:cNvPr>
          <p:cNvSpPr txBox="1"/>
          <p:nvPr/>
        </p:nvSpPr>
        <p:spPr>
          <a:xfrm>
            <a:off x="183995" y="6402324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GROMACS</a:t>
            </a:r>
            <a:r>
              <a:rPr lang="en-US" dirty="0"/>
              <a:t>		       		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Equilibration	                    	Production and DOS					</a:t>
            </a:r>
            <a:r>
              <a:rPr lang="en-US" b="1" dirty="0"/>
              <a:t>DOS Results</a:t>
            </a:r>
          </a:p>
        </p:txBody>
      </p:sp>
    </p:spTree>
    <p:extLst>
      <p:ext uri="{BB962C8B-B14F-4D97-AF65-F5344CB8AC3E}">
        <p14:creationId xmlns:p14="http://schemas.microsoft.com/office/powerpoint/2010/main" val="3095538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654</Words>
  <Application>Microsoft Office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Density of States for Titan Relevant Molecules in GROMACS</vt:lpstr>
      <vt:lpstr>Molecules of Interest</vt:lpstr>
      <vt:lpstr>Setup </vt:lpstr>
      <vt:lpstr>Energy Minimization</vt:lpstr>
      <vt:lpstr>PowerPoint Presentation</vt:lpstr>
      <vt:lpstr>Notes on Pressure Equilibration</vt:lpstr>
      <vt:lpstr>Production Run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Brey, Nick</dc:creator>
  <cp:lastModifiedBy>Brey, Nick</cp:lastModifiedBy>
  <cp:revision>3</cp:revision>
  <dcterms:created xsi:type="dcterms:W3CDTF">2026-06-24T19:08:39Z</dcterms:created>
  <dcterms:modified xsi:type="dcterms:W3CDTF">2026-06-24T21:21:30Z</dcterms:modified>
</cp:coreProperties>
</file>