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8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6" r:id="rId20"/>
    <p:sldId id="278" r:id="rId21"/>
    <p:sldId id="279" r:id="rId22"/>
    <p:sldId id="277" r:id="rId23"/>
    <p:sldId id="281" r:id="rId24"/>
    <p:sldId id="283" r:id="rId25"/>
    <p:sldId id="28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655" autoAdjust="0"/>
  </p:normalViewPr>
  <p:slideViewPr>
    <p:cSldViewPr snapToGrid="0">
      <p:cViewPr varScale="1">
        <p:scale>
          <a:sx n="54" d="100"/>
          <a:sy n="54" d="100"/>
        </p:scale>
        <p:origin x="10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D6614-F5C3-433F-9979-723367C7A24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6625D-2EDC-49A2-A278-DAA3C3269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870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ambermd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manual.gromacs.org/2025.0/user-guide/terminology.html#gmx-force-field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AMBER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(Assisted Model Building and Energy Refinement) refers both to a set of molecular mechanical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force fields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the simulation of biomolecules and a package of molecular simulation programs.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625D-2EDC-49A2-A278-DAA3C3269D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69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NVT: Rescales atom velocities to keep temperature constant (adjust kinetic energy). </a:t>
            </a:r>
          </a:p>
          <a:p>
            <a:r>
              <a:rPr lang="en-US" dirty="0"/>
              <a:t>NPT: Rescales atom positions (box volume) to keep pressure constant (adjust potential energy).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625D-2EDC-49A2-A278-DAA3C3269D2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8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39E9-50C0-52CD-3CB1-8EDF73DDF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BDAA8-0A2C-70BD-5473-FFB1E2F10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4DCAD-7256-AFD6-53FE-83438F34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DD3-A116-4917-BC97-1B48D8B94E1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1D308-FA88-F3FF-AD56-46E5367D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01675-B74D-D747-8C1F-2FA513136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4CC-7E8A-494A-B122-D859CA20A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8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C69C-0779-B6D3-1459-5D3CC97C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2A62F-A885-781E-F872-517674B22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8A706-AA05-A733-7A82-1C347CBC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DD3-A116-4917-BC97-1B48D8B94E1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623EB-70EF-EA62-1627-8FAFEE258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E0896-6AD8-75C6-1902-563DE35B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4CC-7E8A-494A-B122-D859CA20A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3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367CC-C2D0-1823-52E1-9ABDDFB3A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D16DB-EA9B-1921-16D2-DFAE5DBB3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2054F-02AE-7473-F5B3-17D086BC3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DD3-A116-4917-BC97-1B48D8B94E1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8D44E-A73E-230A-AC69-2C61A2307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6A345-E033-4FF9-0C25-BA7F1A03A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4CC-7E8A-494A-B122-D859CA20A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80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3DA2-8F12-B458-8756-4A6D9E2AA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3DDBF-5CEF-052C-51AD-76A00E786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42334-8F32-0CEF-5D1F-62202E4B6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36600-E339-80FE-47FF-13920F029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DD3-A116-4917-BC97-1B48D8B94E1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48D02-3493-E204-FB71-A4159DD0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ACC3C-FD13-716E-0425-8266DBF4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4CC-7E8A-494A-B122-D859CA20A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42F6-778D-FBB8-A698-B1CB4012A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1EC36-4EEC-4558-35BE-21818492B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4A2CC-F0C0-F362-5D2A-33AADD65D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1A8CBD-ECCA-ED84-D459-A61440715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AA97DC-C1C0-8BA5-02DB-824CB3400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DA67A-1BD0-6FD4-664C-5A0717714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DD3-A116-4917-BC97-1B48D8B94E1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3AC3C6-C915-9086-014F-995BA4D8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9313C-DB4E-D0AD-F5D8-2EB74C24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4CC-7E8A-494A-B122-D859CA20A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7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5BC6-68BC-B814-6321-4821084B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8F534B-BC7C-CB91-297B-FF1D0E33F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DD3-A116-4917-BC97-1B48D8B94E1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4BFC2-731D-EFC9-3B14-888FAC27B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A7261-6E30-6F46-299B-CF4A8520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4CC-7E8A-494A-B122-D859CA20A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401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C2350-9AC8-7E40-1600-222DE25A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DD3-A116-4917-BC97-1B48D8B94E1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D9996-7A86-889E-2064-71E83BE0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05F0C-191D-6D20-31C4-AC4DF98F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4CC-7E8A-494A-B122-D859CA20A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30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7F1F8-149C-A9FB-DE5F-4AB28744C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F671F-6250-BE9C-1C54-68A502425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D218C-5F5D-80D8-341F-A17CA7DBF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831BE-99C6-E8C8-B144-021FAF8A6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DD3-A116-4917-BC97-1B48D8B94E1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BA22F-9BBA-ED45-A160-30B300D3D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EB43B-8876-EF89-2139-C6191B98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4CC-7E8A-494A-B122-D859CA20A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9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4205-B8B2-3331-EE52-4F30F6D3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B72942-D805-0268-CDDD-AAFA25F61D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A3294-FE68-73C6-4E65-A86082A4D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9E68E-93E4-4425-2C3A-624A27CA9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DD3-A116-4917-BC97-1B48D8B94E1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9E403-76D1-5172-5A64-171091436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7D7E0-10B8-7BD7-4CD6-11828463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4CC-7E8A-494A-B122-D859CA20A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61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2911-5FBC-B318-A205-052A5517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E5030-1514-DE26-1CE5-12138E574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468D6-86CA-F546-A7D9-880324E63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DD3-A116-4917-BC97-1B48D8B94E1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CD402-3B9C-A41D-8C7F-7871BD476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61ED3-CBB5-74E7-EC48-7E77E58C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4CC-7E8A-494A-B122-D859CA20A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02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246B09-92E8-9E9D-81F1-86FC86112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8B189-F1A7-1D5A-C2B6-203B36313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95CA5-290E-2BE4-A5A6-3ED21D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0DD3-A116-4917-BC97-1B48D8B94E1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1C9A5-A608-645E-239C-0EB115EB1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9534C-1C1B-9B10-52EE-FFE81B836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974CC-7E8A-494A-B122-D859CA20A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7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6A040-E568-5883-11C5-5B267212E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96BC9-C24C-E727-509B-5E1F5D82D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D0F9B-4062-11AD-F545-3BA8CB30E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0DD3-A116-4917-BC97-1B48D8B94E1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BF485-7399-A8A9-BAC6-ED6501659C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BFCB7-8E29-010E-C0B0-F82A73F9E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974CC-7E8A-494A-B122-D859CA20A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54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slide" Target="slide21.xml"/><Relationship Id="rId4" Type="http://schemas.openxmlformats.org/officeDocument/2006/relationships/slide" Target="slide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9.xml"/><Relationship Id="rId7" Type="http://schemas.openxmlformats.org/officeDocument/2006/relationships/slide" Target="slide13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4" Type="http://schemas.openxmlformats.org/officeDocument/2006/relationships/slide" Target="slide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" Target="slide17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slide" Target="slide7.xml"/><Relationship Id="rId4" Type="http://schemas.openxmlformats.org/officeDocument/2006/relationships/slide" Target="slide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mbermd.org/doc12/Amber24.pdf" TargetMode="External"/><Relationship Id="rId2" Type="http://schemas.openxmlformats.org/officeDocument/2006/relationships/hyperlink" Target="http://ffamber.cnsm.csulb.edu/ffamber.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anual.gromacs.org/2025.0/reference-manual/algorithms/molecular-dynamics.html#fig-maxwell" TargetMode="External"/><Relationship Id="rId2" Type="http://schemas.openxmlformats.org/officeDocument/2006/relationships/hyperlink" Target="https://manual.gromacs.org/2025.0/reference-manual/functions/functions.html#ff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CFDA-EC50-70AF-1FB0-6FB45D8A6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790" y="431993"/>
            <a:ext cx="9144000" cy="1168207"/>
          </a:xfrm>
        </p:spPr>
        <p:txBody>
          <a:bodyPr/>
          <a:lstStyle/>
          <a:p>
            <a:r>
              <a:rPr lang="en-US" dirty="0"/>
              <a:t>GROMACS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2A8A6-1201-1B1D-6956-DDC05D5E2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917" y="2107775"/>
            <a:ext cx="9144000" cy="3936186"/>
          </a:xfrm>
        </p:spPr>
        <p:txBody>
          <a:bodyPr>
            <a:normAutofit/>
          </a:bodyPr>
          <a:lstStyle/>
          <a:p>
            <a:pPr marL="457200" indent="-457200" algn="l">
              <a:buAutoNum type="arabicPeriod"/>
            </a:pPr>
            <a:r>
              <a:rPr lang="en-US" dirty="0"/>
              <a:t>GROMACS formulations</a:t>
            </a:r>
          </a:p>
          <a:p>
            <a:pPr marL="457200" indent="-457200" algn="l">
              <a:buAutoNum type="arabicPeriod"/>
            </a:pPr>
            <a:r>
              <a:rPr lang="en-US" dirty="0"/>
              <a:t>Computation</a:t>
            </a:r>
          </a:p>
          <a:p>
            <a:pPr marL="457200" indent="-457200" algn="l">
              <a:buAutoNum type="arabicPeriod"/>
            </a:pPr>
            <a:r>
              <a:rPr lang="en-US" dirty="0"/>
              <a:t>Input Files</a:t>
            </a:r>
          </a:p>
          <a:p>
            <a:pPr marL="914400" lvl="1" indent="-457200" algn="l">
              <a:buAutoNum type="arabicPeriod"/>
            </a:pPr>
            <a:r>
              <a:rPr lang="en-US" dirty="0"/>
              <a:t>Setup</a:t>
            </a:r>
          </a:p>
          <a:p>
            <a:pPr marL="914400" lvl="1" indent="-457200" algn="l">
              <a:buAutoNum type="arabicPeriod"/>
            </a:pPr>
            <a:r>
              <a:rPr lang="en-US" dirty="0"/>
              <a:t>Equilibration</a:t>
            </a:r>
          </a:p>
          <a:p>
            <a:pPr marL="914400" lvl="1" indent="-457200" algn="l">
              <a:buAutoNum type="arabicPeriod"/>
            </a:pPr>
            <a:r>
              <a:rPr lang="en-US" dirty="0"/>
              <a:t>Production</a:t>
            </a:r>
          </a:p>
          <a:p>
            <a:pPr marL="457200" indent="-457200" algn="l">
              <a:buAutoNum type="arabicPeriod"/>
            </a:pPr>
            <a:r>
              <a:rPr lang="en-US" dirty="0"/>
              <a:t>DOS Calculation</a:t>
            </a:r>
          </a:p>
        </p:txBody>
      </p:sp>
    </p:spTree>
    <p:extLst>
      <p:ext uri="{BB962C8B-B14F-4D97-AF65-F5344CB8AC3E}">
        <p14:creationId xmlns:p14="http://schemas.microsoft.com/office/powerpoint/2010/main" val="260889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B8BB-BD3F-2266-347D-94CC56F7F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GROMACS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DE551-014D-CCF5-AE9A-94E931ED4B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605019"/>
              </a:xfrm>
            </p:spPr>
            <p:txBody>
              <a:bodyPr/>
              <a:lstStyle/>
              <a:p>
                <a:r>
                  <a:rPr lang="en-US" dirty="0"/>
                  <a:t>GROMACS and LAMMPS use a Newtonian approach for MD simulations</a:t>
                </a:r>
              </a:p>
              <a:p>
                <a:r>
                  <a:rPr lang="en-US" dirty="0"/>
                  <a:t>For every atom: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 is the gradient of the potential: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DE551-014D-CCF5-AE9A-94E931ED4B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605019"/>
              </a:xfrm>
              <a:blipFill>
                <a:blip r:embed="rId2"/>
                <a:stretch>
                  <a:fillRect l="-1043" t="-2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5475DD5-4764-7BDC-2D9D-9A8FAADF279F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Files and structure 		DOS calculation</a:t>
            </a:r>
          </a:p>
        </p:txBody>
      </p:sp>
    </p:spTree>
    <p:extLst>
      <p:ext uri="{BB962C8B-B14F-4D97-AF65-F5344CB8AC3E}">
        <p14:creationId xmlns:p14="http://schemas.microsoft.com/office/powerpoint/2010/main" val="3843629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3D5AF-788F-5718-B9D8-5569A063D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B5AD-4DA3-EF60-BF10-01854D893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GROMACS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C130F-CBEB-B988-AB88-109572A25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5019"/>
          </a:xfrm>
        </p:spPr>
        <p:txBody>
          <a:bodyPr/>
          <a:lstStyle/>
          <a:p>
            <a:r>
              <a:rPr lang="en-US" dirty="0"/>
              <a:t>Different Potentials GROMACS uses: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Inter- </a:t>
            </a:r>
            <a:r>
              <a:rPr lang="en-US" dirty="0"/>
              <a:t>and</a:t>
            </a:r>
            <a:r>
              <a:rPr lang="en-US" dirty="0">
                <a:solidFill>
                  <a:srgbClr val="FF9900"/>
                </a:solidFill>
              </a:rPr>
              <a:t> </a:t>
            </a:r>
            <a:r>
              <a:rPr lang="en-US" b="1" dirty="0">
                <a:solidFill>
                  <a:srgbClr val="FF9900"/>
                </a:solidFill>
              </a:rPr>
              <a:t>intra-</a:t>
            </a:r>
            <a:r>
              <a:rPr lang="en-US" dirty="0">
                <a:solidFill>
                  <a:srgbClr val="FF9900"/>
                </a:solidFill>
              </a:rPr>
              <a:t> </a:t>
            </a:r>
            <a:r>
              <a:rPr lang="en-US" dirty="0"/>
              <a:t>molecular interactions</a:t>
            </a:r>
          </a:p>
          <a:p>
            <a:pPr lvl="1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Lennard Jones (Vander Waals, repulsion) and Coulomb (charges)</a:t>
            </a:r>
          </a:p>
          <a:p>
            <a:pPr lvl="1"/>
            <a:r>
              <a:rPr lang="en-US" b="1" dirty="0">
                <a:solidFill>
                  <a:srgbClr val="FF9900"/>
                </a:solidFill>
              </a:rPr>
              <a:t>Stretching and bending vibrations, Internal rotation</a:t>
            </a:r>
          </a:p>
          <a:p>
            <a:pPr lvl="1"/>
            <a:endParaRPr lang="en-US" b="1" dirty="0">
              <a:solidFill>
                <a:srgbClr val="FF9900"/>
              </a:solidFill>
            </a:endParaRPr>
          </a:p>
          <a:p>
            <a:r>
              <a:rPr lang="en-US" dirty="0"/>
              <a:t>Force fields: </a:t>
            </a:r>
            <a:r>
              <a:rPr lang="en-US" dirty="0">
                <a:hlinkClick r:id="rId3" action="ppaction://hlinksldjump"/>
              </a:rPr>
              <a:t>OPLS-AA</a:t>
            </a:r>
            <a:r>
              <a:rPr lang="en-US" dirty="0"/>
              <a:t>, </a:t>
            </a:r>
            <a:r>
              <a:rPr lang="en-US" dirty="0">
                <a:hlinkClick r:id="rId4" action="ppaction://hlinksldjump"/>
              </a:rPr>
              <a:t>AMBER</a:t>
            </a:r>
            <a:r>
              <a:rPr lang="en-US" dirty="0"/>
              <a:t>, </a:t>
            </a:r>
            <a:r>
              <a:rPr lang="en-US" dirty="0">
                <a:hlinkClick r:id="rId5" action="ppaction://hlinksldjump"/>
              </a:rPr>
              <a:t>CHARMM</a:t>
            </a:r>
            <a:r>
              <a:rPr lang="en-US" dirty="0"/>
              <a:t>, </a:t>
            </a:r>
            <a:r>
              <a:rPr lang="en-US" dirty="0">
                <a:hlinkClick r:id="rId6" action="ppaction://hlinksldjump"/>
              </a:rPr>
              <a:t>GROMOS</a:t>
            </a:r>
            <a:endParaRPr lang="en-US" dirty="0"/>
          </a:p>
          <a:p>
            <a:pPr lvl="1"/>
            <a:r>
              <a:rPr lang="en-US" dirty="0"/>
              <a:t>Set of functions to govern how atoms interact (bonded and non-bonded interactions)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B7048-56C7-F712-55FF-175FADE9CCF1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Files and structure 		DOS calculation</a:t>
            </a:r>
          </a:p>
        </p:txBody>
      </p:sp>
    </p:spTree>
    <p:extLst>
      <p:ext uri="{BB962C8B-B14F-4D97-AF65-F5344CB8AC3E}">
        <p14:creationId xmlns:p14="http://schemas.microsoft.com/office/powerpoint/2010/main" val="3365766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F2286-1791-2CC3-E561-C5F5C4047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AEB0-D3FF-4D9D-324D-F7C88233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Aspects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8789D-DD58-A08F-5938-EAD66DC5E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5019"/>
          </a:xfrm>
        </p:spPr>
        <p:txBody>
          <a:bodyPr/>
          <a:lstStyle/>
          <a:p>
            <a:r>
              <a:rPr lang="en-US" dirty="0"/>
              <a:t>Periodic boundary condition:</a:t>
            </a:r>
          </a:p>
          <a:p>
            <a:pPr lvl="1"/>
            <a:r>
              <a:rPr lang="en-US" dirty="0"/>
              <a:t>Avoids “wall” effects of larger systems</a:t>
            </a:r>
          </a:p>
          <a:p>
            <a:pPr lvl="1"/>
            <a:r>
              <a:rPr lang="en-US" dirty="0"/>
              <a:t>Atoms can interact through walls too</a:t>
            </a:r>
          </a:p>
          <a:p>
            <a:pPr lvl="1"/>
            <a:r>
              <a:rPr lang="en-US" dirty="0"/>
              <a:t>Atoms pass through the wall and appear at other side of the box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B6538-0D97-ABAF-CA4D-31D390ECB94D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b="1" dirty="0"/>
              <a:t>Computation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		Files and structure 		DOS calculation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CF2E92-C36B-831E-E217-E5CADB15CCB7}"/>
              </a:ext>
            </a:extLst>
          </p:cNvPr>
          <p:cNvSpPr/>
          <p:nvPr/>
        </p:nvSpPr>
        <p:spPr>
          <a:xfrm>
            <a:off x="2910468" y="3713357"/>
            <a:ext cx="5430643" cy="21967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B64EA9-5A33-7B53-3213-EBE285568A36}"/>
              </a:ext>
            </a:extLst>
          </p:cNvPr>
          <p:cNvSpPr/>
          <p:nvPr/>
        </p:nvSpPr>
        <p:spPr>
          <a:xfrm>
            <a:off x="2719037" y="4116659"/>
            <a:ext cx="479502" cy="479502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EADD7EE-2639-06A5-512B-A6A68EC72DDF}"/>
              </a:ext>
            </a:extLst>
          </p:cNvPr>
          <p:cNvSpPr/>
          <p:nvPr/>
        </p:nvSpPr>
        <p:spPr>
          <a:xfrm>
            <a:off x="5146287" y="4356410"/>
            <a:ext cx="479502" cy="479502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BFF883-440D-7188-3A5F-44D8E00729E8}"/>
              </a:ext>
            </a:extLst>
          </p:cNvPr>
          <p:cNvSpPr/>
          <p:nvPr/>
        </p:nvSpPr>
        <p:spPr>
          <a:xfrm>
            <a:off x="4050213" y="3869474"/>
            <a:ext cx="479502" cy="479502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E27E272-2F6D-E927-4EBA-77224410DE7A}"/>
              </a:ext>
            </a:extLst>
          </p:cNvPr>
          <p:cNvSpPr/>
          <p:nvPr/>
        </p:nvSpPr>
        <p:spPr>
          <a:xfrm>
            <a:off x="6456558" y="3876908"/>
            <a:ext cx="479502" cy="479502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F1EB81-ACC8-5B1B-BBBC-AB0D3652AA8C}"/>
              </a:ext>
            </a:extLst>
          </p:cNvPr>
          <p:cNvSpPr/>
          <p:nvPr/>
        </p:nvSpPr>
        <p:spPr>
          <a:xfrm>
            <a:off x="4795023" y="5190893"/>
            <a:ext cx="479502" cy="479502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A34CA06-1CC1-8930-9255-2375B8CCBCAD}"/>
              </a:ext>
            </a:extLst>
          </p:cNvPr>
          <p:cNvSpPr/>
          <p:nvPr/>
        </p:nvSpPr>
        <p:spPr>
          <a:xfrm>
            <a:off x="7245504" y="5246649"/>
            <a:ext cx="479502" cy="479502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391692-AF8A-952A-C503-15E404198BF7}"/>
              </a:ext>
            </a:extLst>
          </p:cNvPr>
          <p:cNvSpPr/>
          <p:nvPr/>
        </p:nvSpPr>
        <p:spPr>
          <a:xfrm>
            <a:off x="8211945" y="4116659"/>
            <a:ext cx="479502" cy="479502"/>
          </a:xfrm>
          <a:prstGeom prst="ellipse">
            <a:avLst/>
          </a:prstGeom>
          <a:noFill/>
          <a:ln w="57150"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FB72F4-FA7D-8ACB-91DA-DCE7C4E55B7A}"/>
              </a:ext>
            </a:extLst>
          </p:cNvPr>
          <p:cNvCxnSpPr/>
          <p:nvPr/>
        </p:nvCxnSpPr>
        <p:spPr>
          <a:xfrm flipH="1">
            <a:off x="2274849" y="4356410"/>
            <a:ext cx="6356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A9FA2E6-DDB8-CEF8-E3F9-93E89FED2E57}"/>
              </a:ext>
            </a:extLst>
          </p:cNvPr>
          <p:cNvCxnSpPr/>
          <p:nvPr/>
        </p:nvCxnSpPr>
        <p:spPr>
          <a:xfrm flipH="1">
            <a:off x="7851389" y="4348976"/>
            <a:ext cx="6356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310E1BC-5046-567C-D177-AAD8F96FFA7A}"/>
              </a:ext>
            </a:extLst>
          </p:cNvPr>
          <p:cNvSpPr/>
          <p:nvPr/>
        </p:nvSpPr>
        <p:spPr>
          <a:xfrm>
            <a:off x="3373244" y="4951142"/>
            <a:ext cx="479502" cy="479502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34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C2D6F-5F64-E6C1-1CE1-A6DB0E812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A156C-4557-0C94-F375-9AE24333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Aspects - Integrators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2ABB9-0030-BA73-2C1F-2EB03605C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5019"/>
          </a:xfrm>
        </p:spPr>
        <p:txBody>
          <a:bodyPr/>
          <a:lstStyle/>
          <a:p>
            <a:r>
              <a:rPr lang="en-US" dirty="0"/>
              <a:t>Time-stepping algorithms</a:t>
            </a:r>
          </a:p>
          <a:p>
            <a:pPr lvl="1"/>
            <a:r>
              <a:rPr lang="en-US" dirty="0" err="1"/>
              <a:t>Verlet</a:t>
            </a:r>
            <a:r>
              <a:rPr lang="en-US" dirty="0"/>
              <a:t>, Leap-frog, Trotter</a:t>
            </a:r>
          </a:p>
          <a:p>
            <a:endParaRPr lang="en-US" dirty="0"/>
          </a:p>
          <a:p>
            <a:r>
              <a:rPr lang="en-US" dirty="0"/>
              <a:t>Neighbor searching</a:t>
            </a:r>
          </a:p>
          <a:p>
            <a:pPr lvl="1"/>
            <a:r>
              <a:rPr lang="en-US" dirty="0"/>
              <a:t>All non-bonded interactions between particles are computed out to a cut-off distance (typically set to 1nm)</a:t>
            </a:r>
          </a:p>
          <a:p>
            <a:pPr lvl="1"/>
            <a:r>
              <a:rPr lang="en-US" dirty="0"/>
              <a:t>Cut-off distance needs to be &gt; ½ smallest box dimension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E5E47-C024-38E2-DD8A-40FCD879F437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b="1" dirty="0"/>
              <a:t>Computation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		Files and structure 		DOS calculation</a:t>
            </a:r>
          </a:p>
        </p:txBody>
      </p:sp>
    </p:spTree>
    <p:extLst>
      <p:ext uri="{BB962C8B-B14F-4D97-AF65-F5344CB8AC3E}">
        <p14:creationId xmlns:p14="http://schemas.microsoft.com/office/powerpoint/2010/main" val="146476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A675-F3E0-82C7-FCF5-19D8A534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15D0-C7D1-3AD8-D128-EB790281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Aspects - Scales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C222E-FBDA-ACFC-439C-E1FD7511E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5019"/>
          </a:xfrm>
        </p:spPr>
        <p:txBody>
          <a:bodyPr/>
          <a:lstStyle/>
          <a:p>
            <a:r>
              <a:rPr lang="en-US" dirty="0"/>
              <a:t>Molecular interactions occur on small length scales and fast time scales</a:t>
            </a:r>
          </a:p>
          <a:p>
            <a:pPr lvl="1"/>
            <a:r>
              <a:rPr lang="en-US" dirty="0"/>
              <a:t>Length scales is nanometers (nm)</a:t>
            </a:r>
          </a:p>
          <a:p>
            <a:pPr lvl="1"/>
            <a:r>
              <a:rPr lang="en-US" dirty="0"/>
              <a:t> Time scale is femtoseconds (fs)</a:t>
            </a:r>
          </a:p>
          <a:p>
            <a:r>
              <a:rPr lang="en-US" dirty="0"/>
              <a:t>Number of atoms (and molecules)</a:t>
            </a:r>
          </a:p>
          <a:p>
            <a:pPr lvl="1"/>
            <a:r>
              <a:rPr lang="en-US" dirty="0"/>
              <a:t>Too few: Low quality data</a:t>
            </a:r>
          </a:p>
          <a:p>
            <a:pPr lvl="1"/>
            <a:r>
              <a:rPr lang="en-US" dirty="0"/>
              <a:t>Too many: Long simulations + Large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434D7-1FE7-C8F8-B314-451D61EE7C41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b="1" dirty="0"/>
              <a:t>Computation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		Files and structure 		DOS calculation</a:t>
            </a:r>
          </a:p>
        </p:txBody>
      </p:sp>
    </p:spTree>
    <p:extLst>
      <p:ext uri="{BB962C8B-B14F-4D97-AF65-F5344CB8AC3E}">
        <p14:creationId xmlns:p14="http://schemas.microsoft.com/office/powerpoint/2010/main" val="3271054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F7836-D110-7BFC-5A42-2E2C5018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5411-DD9E-9A38-19E4-6AE770F41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and Structure – DOS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8E0F7-68B6-9846-35DB-B142808BAC91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</a:t>
            </a:r>
            <a:r>
              <a:rPr lang="en-US" b="1" dirty="0"/>
              <a:t>Files and structure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		DOS calculation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1B506B-8647-2300-4E26-82B599EB04EE}"/>
              </a:ext>
            </a:extLst>
          </p:cNvPr>
          <p:cNvSpPr/>
          <p:nvPr/>
        </p:nvSpPr>
        <p:spPr>
          <a:xfrm>
            <a:off x="301083" y="1594625"/>
            <a:ext cx="2219093" cy="12545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F6BE9-0563-7930-5502-0A0C9D220139}"/>
              </a:ext>
            </a:extLst>
          </p:cNvPr>
          <p:cNvSpPr txBox="1"/>
          <p:nvPr/>
        </p:nvSpPr>
        <p:spPr>
          <a:xfrm>
            <a:off x="490653" y="2037215"/>
            <a:ext cx="1839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Coordinate File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AE5471-2033-062A-4D5F-57D0F6A26363}"/>
              </a:ext>
            </a:extLst>
          </p:cNvPr>
          <p:cNvSpPr/>
          <p:nvPr/>
        </p:nvSpPr>
        <p:spPr>
          <a:xfrm>
            <a:off x="3501482" y="1594625"/>
            <a:ext cx="2219093" cy="12545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492F29-CDEB-4C96-EFF7-D72D0EC5E97C}"/>
              </a:ext>
            </a:extLst>
          </p:cNvPr>
          <p:cNvSpPr txBox="1"/>
          <p:nvPr/>
        </p:nvSpPr>
        <p:spPr>
          <a:xfrm>
            <a:off x="3880624" y="2022606"/>
            <a:ext cx="1839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Topology File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8BB98C-E995-7A99-F4BF-CF7ABDD694BB}"/>
              </a:ext>
            </a:extLst>
          </p:cNvPr>
          <p:cNvSpPr/>
          <p:nvPr/>
        </p:nvSpPr>
        <p:spPr>
          <a:xfrm>
            <a:off x="2068552" y="4029766"/>
            <a:ext cx="2141034" cy="12545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0402A8-FC41-38C9-0544-22FEC5E4BC6D}"/>
              </a:ext>
            </a:extLst>
          </p:cNvPr>
          <p:cNvSpPr txBox="1"/>
          <p:nvPr/>
        </p:nvSpPr>
        <p:spPr>
          <a:xfrm>
            <a:off x="2269274" y="4324599"/>
            <a:ext cx="175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 action="ppaction://hlinksldjump"/>
              </a:rPr>
              <a:t>Simulation Box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BFC80D-ACFA-08F6-4587-976D917F9231}"/>
              </a:ext>
            </a:extLst>
          </p:cNvPr>
          <p:cNvSpPr txBox="1"/>
          <p:nvPr/>
        </p:nvSpPr>
        <p:spPr>
          <a:xfrm>
            <a:off x="6740912" y="1594625"/>
            <a:ext cx="221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5" action="ppaction://hlinksldjump"/>
              </a:rPr>
              <a:t>Energy Minimization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A43E52-8466-11B9-C70B-961422B35561}"/>
              </a:ext>
            </a:extLst>
          </p:cNvPr>
          <p:cNvSpPr txBox="1"/>
          <p:nvPr/>
        </p:nvSpPr>
        <p:spPr>
          <a:xfrm>
            <a:off x="6480717" y="2300495"/>
            <a:ext cx="273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6" action="ppaction://hlinksldjump"/>
              </a:rPr>
              <a:t>Temperature Equilibration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F4E51E-BA62-AD1B-49B5-15EE39EEE438}"/>
              </a:ext>
            </a:extLst>
          </p:cNvPr>
          <p:cNvSpPr txBox="1"/>
          <p:nvPr/>
        </p:nvSpPr>
        <p:spPr>
          <a:xfrm>
            <a:off x="6661924" y="3052516"/>
            <a:ext cx="2377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Pressure Equilibration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365D2A-DB85-6023-860D-B98A41604E54}"/>
              </a:ext>
            </a:extLst>
          </p:cNvPr>
          <p:cNvSpPr txBox="1"/>
          <p:nvPr/>
        </p:nvSpPr>
        <p:spPr>
          <a:xfrm>
            <a:off x="6889594" y="3794850"/>
            <a:ext cx="1921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7" action="ppaction://hlinksldjump"/>
              </a:rPr>
              <a:t>Production Run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AF3825-9BBB-627E-2A11-92714D1B889F}"/>
              </a:ext>
            </a:extLst>
          </p:cNvPr>
          <p:cNvSpPr txBox="1"/>
          <p:nvPr/>
        </p:nvSpPr>
        <p:spPr>
          <a:xfrm>
            <a:off x="7476091" y="5257074"/>
            <a:ext cx="7487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linkClick r:id="rId8" action="ppaction://hlinksldjump"/>
              </a:rPr>
              <a:t>DOS</a:t>
            </a:r>
            <a:endParaRPr lang="en-US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2DC3E7-1373-897D-9DFD-BE509F71144A}"/>
              </a:ext>
            </a:extLst>
          </p:cNvPr>
          <p:cNvSpPr txBox="1"/>
          <p:nvPr/>
        </p:nvSpPr>
        <p:spPr>
          <a:xfrm>
            <a:off x="7412305" y="4525962"/>
            <a:ext cx="876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VACF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C5C419-3E0E-1E74-F1F7-B6F52AA71BAE}"/>
              </a:ext>
            </a:extLst>
          </p:cNvPr>
          <p:cNvCxnSpPr>
            <a:stCxn id="2" idx="2"/>
          </p:cNvCxnSpPr>
          <p:nvPr/>
        </p:nvCxnSpPr>
        <p:spPr>
          <a:xfrm>
            <a:off x="6096000" y="1690688"/>
            <a:ext cx="81776" cy="44536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7263479-3B90-3081-80B1-2F4B156FD896}"/>
              </a:ext>
            </a:extLst>
          </p:cNvPr>
          <p:cNvCxnSpPr>
            <a:stCxn id="4" idx="4"/>
            <a:endCxn id="12" idx="0"/>
          </p:cNvCxnSpPr>
          <p:nvPr/>
        </p:nvCxnSpPr>
        <p:spPr>
          <a:xfrm>
            <a:off x="1410630" y="2849137"/>
            <a:ext cx="1734015" cy="147546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A97BC38-A9E3-3524-4DAC-E43A6709626C}"/>
              </a:ext>
            </a:extLst>
          </p:cNvPr>
          <p:cNvCxnSpPr>
            <a:cxnSpLocks/>
            <a:stCxn id="7" idx="4"/>
            <a:endCxn id="12" idx="0"/>
          </p:cNvCxnSpPr>
          <p:nvPr/>
        </p:nvCxnSpPr>
        <p:spPr>
          <a:xfrm flipH="1">
            <a:off x="3144645" y="2849137"/>
            <a:ext cx="1466384" cy="147546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FAC410-DA3E-BFA2-7C4A-42D7B38BCFAE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2330604" y="2207272"/>
            <a:ext cx="1550020" cy="14609"/>
          </a:xfrm>
          <a:prstGeom prst="straightConnector1">
            <a:avLst/>
          </a:prstGeom>
          <a:ln w="38100">
            <a:prstDash val="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2E865B9-6761-DEC2-1261-EC14063E8E80}"/>
              </a:ext>
            </a:extLst>
          </p:cNvPr>
          <p:cNvSpPr/>
          <p:nvPr/>
        </p:nvSpPr>
        <p:spPr>
          <a:xfrm>
            <a:off x="7321703" y="5205795"/>
            <a:ext cx="1057506" cy="5218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A59593-9CF2-C89A-746B-56B7BB62E185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flipH="1">
            <a:off x="7850458" y="1963957"/>
            <a:ext cx="1" cy="3365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2E95FA4-40B6-21D9-D0A4-569410C9FFBD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7850458" y="2669827"/>
            <a:ext cx="0" cy="38268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CF64871-A605-4626-2DE1-25FAA2178CDA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7850458" y="3421848"/>
            <a:ext cx="0" cy="37300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2B3D2FB-4904-99C5-187E-21B2B6E4CB19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7850457" y="4164182"/>
            <a:ext cx="1" cy="3617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F1B097D-9829-56A1-0090-EAEC2BEE053C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>
            <a:off x="7850457" y="4895294"/>
            <a:ext cx="0" cy="3617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28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725B2-BA22-6C4F-9FB3-7FFF8D582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BE318-C041-8806-04A3-AA3FC556B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2E1A7-CBC0-4185-5E9F-2A43263F7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724" y="2083982"/>
            <a:ext cx="7357732" cy="2315304"/>
          </a:xfrm>
        </p:spPr>
        <p:txBody>
          <a:bodyPr/>
          <a:lstStyle/>
          <a:p>
            <a:r>
              <a:rPr lang="en-US" dirty="0"/>
              <a:t>Coordinates of every atom within a molecule</a:t>
            </a:r>
          </a:p>
          <a:p>
            <a:r>
              <a:rPr lang="en-US" dirty="0"/>
              <a:t>Pure simulations would require only 1 molecule defined – not true for more complex simulations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E301C-A3E6-9B80-C59E-D7B06E6508FB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</a:t>
            </a:r>
            <a:r>
              <a:rPr lang="en-US" b="1" dirty="0">
                <a:hlinkClick r:id="rId2" action="ppaction://hlinksldjump"/>
              </a:rPr>
              <a:t>Files and structure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		DOS calculation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A31857-64DB-6B40-E41E-81DAC2884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472" y="4229165"/>
            <a:ext cx="7743825" cy="1476375"/>
          </a:xfrm>
          <a:prstGeom prst="rect">
            <a:avLst/>
          </a:prstGeom>
        </p:spPr>
      </p:pic>
      <p:pic>
        <p:nvPicPr>
          <p:cNvPr id="10" name="Picture 9" descr="A white and grey molecule&#10;&#10;AI-generated content may be incorrect.">
            <a:extLst>
              <a:ext uri="{FF2B5EF4-FFF2-40B4-BE49-F238E27FC236}">
                <a16:creationId xmlns:a16="http://schemas.microsoft.com/office/drawing/2014/main" id="{ACA5D2E2-1C32-4F49-8537-E072BFB3A3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669" y="1742060"/>
            <a:ext cx="2616097" cy="193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7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3B74B-4586-9063-E951-27C9CF193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66BA-7F60-72A6-2981-E4BEE81D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67265-76E4-B1F2-7CED-C683470C2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4498" cy="2097789"/>
          </a:xfrm>
        </p:spPr>
        <p:txBody>
          <a:bodyPr/>
          <a:lstStyle/>
          <a:p>
            <a:r>
              <a:rPr lang="en-US" dirty="0"/>
              <a:t>Includes molecular information:</a:t>
            </a:r>
          </a:p>
          <a:p>
            <a:pPr lvl="1"/>
            <a:r>
              <a:rPr lang="en-US" dirty="0"/>
              <a:t>Bond lengths, bond angles</a:t>
            </a:r>
          </a:p>
          <a:p>
            <a:pPr lvl="1"/>
            <a:r>
              <a:rPr lang="en-US" dirty="0"/>
              <a:t>Force fields</a:t>
            </a:r>
          </a:p>
          <a:p>
            <a:pPr lvl="1"/>
            <a:r>
              <a:rPr lang="en-US" dirty="0"/>
              <a:t>System information</a:t>
            </a:r>
          </a:p>
          <a:p>
            <a:pPr lvl="1"/>
            <a:r>
              <a:rPr lang="en-US" dirty="0"/>
              <a:t>Number of molecules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B255F-ACBD-D814-91AC-643A353B0D41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</a:t>
            </a:r>
            <a:r>
              <a:rPr lang="en-US" b="1" dirty="0">
                <a:hlinkClick r:id="rId2" action="ppaction://hlinksldjump"/>
              </a:rPr>
              <a:t>Files and structure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		DOS calculation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D48DF7-7133-E854-4721-C40AE797A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893" y="4058351"/>
            <a:ext cx="6754877" cy="209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51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8878D-85B7-A620-09DC-FBCBC6836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22E6C-6874-5475-2C86-159CC149D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DC596-0183-1DF2-3A3B-952BC9466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6168657" cy="4203034"/>
          </a:xfrm>
        </p:spPr>
        <p:txBody>
          <a:bodyPr>
            <a:normAutofit/>
          </a:bodyPr>
          <a:lstStyle/>
          <a:p>
            <a:r>
              <a:rPr lang="en-US" dirty="0"/>
              <a:t>Defines initial simulation size </a:t>
            </a:r>
          </a:p>
          <a:p>
            <a:pPr lvl="1"/>
            <a:r>
              <a:rPr lang="en-US" dirty="0"/>
              <a:t>Used in EM and NVT</a:t>
            </a:r>
          </a:p>
          <a:p>
            <a:pPr lvl="1"/>
            <a:r>
              <a:rPr lang="en-US" dirty="0"/>
              <a:t>Altered in NPT</a:t>
            </a:r>
          </a:p>
          <a:p>
            <a:r>
              <a:rPr lang="en-US" dirty="0"/>
              <a:t>Can manually add a specific number of molecules </a:t>
            </a:r>
          </a:p>
          <a:p>
            <a:pPr lvl="1"/>
            <a:r>
              <a:rPr lang="en-US" dirty="0"/>
              <a:t>GROMACS will warn you if it cannot fit all molecules</a:t>
            </a:r>
          </a:p>
          <a:p>
            <a:r>
              <a:rPr lang="en-US" dirty="0"/>
              <a:t>Can choose to solvate</a:t>
            </a:r>
          </a:p>
          <a:p>
            <a:pPr lvl="1"/>
            <a:r>
              <a:rPr lang="en-US" dirty="0"/>
              <a:t> (and specify how many molecules of each type you want)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65AA8-FA47-F2A3-6526-4B82F08D586B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</a:t>
            </a:r>
            <a:r>
              <a:rPr lang="en-US" b="1" dirty="0">
                <a:hlinkClick r:id="rId2" action="ppaction://hlinksldjump"/>
              </a:rPr>
              <a:t>Files and structure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		DOS calculation</a:t>
            </a:r>
          </a:p>
        </p:txBody>
      </p:sp>
      <p:pic>
        <p:nvPicPr>
          <p:cNvPr id="6" name="Picture 5" descr="A group of small round objects&#10;&#10;AI-generated content may be incorrect.">
            <a:extLst>
              <a:ext uri="{FF2B5EF4-FFF2-40B4-BE49-F238E27FC236}">
                <a16:creationId xmlns:a16="http://schemas.microsoft.com/office/drawing/2014/main" id="{43014177-D2FB-0CEF-AA59-1EE886DE4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977" y="500834"/>
            <a:ext cx="4653928" cy="37425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85C7F7-3D71-391A-F151-91A21ADFD0F6}"/>
              </a:ext>
            </a:extLst>
          </p:cNvPr>
          <p:cNvSpPr txBox="1"/>
          <p:nvPr/>
        </p:nvSpPr>
        <p:spPr>
          <a:xfrm>
            <a:off x="8342104" y="4604407"/>
            <a:ext cx="339446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500 methane molecules</a:t>
            </a:r>
          </a:p>
          <a:p>
            <a:r>
              <a:rPr lang="en-US" sz="2000" dirty="0"/>
              <a:t>(2,500 atoms)</a:t>
            </a:r>
          </a:p>
          <a:p>
            <a:r>
              <a:rPr lang="en-US" sz="2000" dirty="0"/>
              <a:t>3x3x3 nm box</a:t>
            </a:r>
          </a:p>
          <a:p>
            <a:r>
              <a:rPr lang="en-US" sz="2000" dirty="0"/>
              <a:t>Final Density: 490 kg/m^3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839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3C328-F0C3-6CEC-C385-39A320C23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F4334-9ECF-D8DE-64AC-D1E5D5E5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Minimization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A55BB-7F53-0D73-71E0-6213F8A20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Spaces out molecules to minimize forces on each one</a:t>
            </a:r>
          </a:p>
          <a:p>
            <a:pPr lvl="1"/>
            <a:r>
              <a:rPr lang="en-US" dirty="0"/>
              <a:t>Prevents strong repulsive forces at beginning of simulation (avoids errors)</a:t>
            </a:r>
          </a:p>
          <a:p>
            <a:r>
              <a:rPr lang="en-US" dirty="0"/>
              <a:t>Avoids overlapping molecules and atom shells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19AF8-77F4-422D-A9D4-7ECA66EC4789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</a:t>
            </a:r>
            <a:r>
              <a:rPr lang="en-US" b="1" dirty="0">
                <a:hlinkClick r:id="rId2" action="ppaction://hlinksldjump"/>
              </a:rPr>
              <a:t>Files and structure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		DOS calculation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A17BC2-0C09-5882-C89D-5E7D978F0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451" y="3300904"/>
            <a:ext cx="4308180" cy="2951541"/>
          </a:xfrm>
          <a:prstGeom prst="rect">
            <a:avLst/>
          </a:prstGeom>
        </p:spPr>
      </p:pic>
      <p:pic>
        <p:nvPicPr>
          <p:cNvPr id="10" name="Picture 9" descr="A group of small round objects&#10;&#10;AI-generated content may be incorrect.">
            <a:extLst>
              <a:ext uri="{FF2B5EF4-FFF2-40B4-BE49-F238E27FC236}">
                <a16:creationId xmlns:a16="http://schemas.microsoft.com/office/drawing/2014/main" id="{82C45727-EBE5-6311-E32B-675DE922F6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3428999"/>
            <a:ext cx="3351689" cy="269535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146F00-E9F0-5614-C7EA-FD80819A3E01}"/>
              </a:ext>
            </a:extLst>
          </p:cNvPr>
          <p:cNvCxnSpPr>
            <a:stCxn id="10" idx="3"/>
            <a:endCxn id="9" idx="1"/>
          </p:cNvCxnSpPr>
          <p:nvPr/>
        </p:nvCxnSpPr>
        <p:spPr>
          <a:xfrm flipV="1">
            <a:off x="4189888" y="4776675"/>
            <a:ext cx="2423563" cy="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863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28C0E-D67E-E4B5-F82B-28519E476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7314-F406-6345-03A9-C3F07B49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Equilibration Runs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E5BF-6DB1-D465-AF12-BD5FCB6F9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95" y="1825625"/>
            <a:ext cx="11382539" cy="1820942"/>
          </a:xfrm>
        </p:spPr>
        <p:txBody>
          <a:bodyPr>
            <a:normAutofit/>
          </a:bodyPr>
          <a:lstStyle/>
          <a:p>
            <a:r>
              <a:rPr lang="en-US" dirty="0"/>
              <a:t>Equilibrate the system at desired T and P</a:t>
            </a:r>
          </a:p>
          <a:p>
            <a:pPr lvl="1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NVT</a:t>
            </a:r>
            <a:r>
              <a:rPr lang="en-US" dirty="0"/>
              <a:t>: closed system, heat transfer </a:t>
            </a:r>
            <a:r>
              <a:rPr lang="en-US" dirty="0">
                <a:sym typeface="Wingdings" panose="05000000000000000000" pitchFamily="2" charset="2"/>
              </a:rPr>
              <a:t> Adjust atom velocities</a:t>
            </a:r>
            <a:endParaRPr lang="en-US" dirty="0"/>
          </a:p>
          <a:p>
            <a:pPr lvl="1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NPT</a:t>
            </a:r>
            <a:r>
              <a:rPr lang="en-US" dirty="0"/>
              <a:t>: closed system, heat and work transfer </a:t>
            </a:r>
            <a:r>
              <a:rPr lang="en-US" dirty="0">
                <a:sym typeface="Wingdings" panose="05000000000000000000" pitchFamily="2" charset="2"/>
              </a:rPr>
              <a:t> Adjust atom positions/density</a:t>
            </a:r>
            <a:endParaRPr lang="en-US" dirty="0"/>
          </a:p>
          <a:p>
            <a:r>
              <a:rPr lang="en-US" dirty="0"/>
              <a:t>Uses different </a:t>
            </a:r>
            <a:r>
              <a:rPr lang="en-US" dirty="0">
                <a:hlinkClick r:id="rId3" action="ppaction://hlinksldjump"/>
              </a:rPr>
              <a:t>Thermostats</a:t>
            </a:r>
            <a:r>
              <a:rPr lang="en-US" dirty="0"/>
              <a:t> and </a:t>
            </a:r>
            <a:r>
              <a:rPr lang="en-US" dirty="0" err="1">
                <a:hlinkClick r:id="rId4" action="ppaction://hlinksldjump"/>
              </a:rPr>
              <a:t>Barostats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B1906B-3F93-92CC-4E16-1342D79A0C05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</a:t>
            </a:r>
            <a:r>
              <a:rPr lang="en-US" b="1" dirty="0">
                <a:hlinkClick r:id="rId5" action="ppaction://hlinksldjump"/>
              </a:rPr>
              <a:t>Files and structure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		DOS calculation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84687E-749F-7F5B-668D-48CD71689E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3876" y="3748557"/>
            <a:ext cx="3848295" cy="26295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FEEB79-C071-165B-12B8-B22690DFB2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9515" y="3740149"/>
            <a:ext cx="3946019" cy="26463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636CEB-5F62-5182-0BFC-94424534E7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268" y="3686530"/>
            <a:ext cx="3598463" cy="266315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84022A-8DFE-D34E-1FA5-227CE53ADF11}"/>
              </a:ext>
            </a:extLst>
          </p:cNvPr>
          <p:cNvSpPr/>
          <p:nvPr/>
        </p:nvSpPr>
        <p:spPr>
          <a:xfrm>
            <a:off x="0" y="3686530"/>
            <a:ext cx="3944217" cy="2703119"/>
          </a:xfrm>
          <a:prstGeom prst="rect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E1B262-E9D3-E324-03DF-8501583202FB}"/>
              </a:ext>
            </a:extLst>
          </p:cNvPr>
          <p:cNvSpPr/>
          <p:nvPr/>
        </p:nvSpPr>
        <p:spPr>
          <a:xfrm>
            <a:off x="3979659" y="3686530"/>
            <a:ext cx="3944217" cy="2703119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40CC17-D835-AF64-41BC-8AB2FECB6D95}"/>
              </a:ext>
            </a:extLst>
          </p:cNvPr>
          <p:cNvSpPr/>
          <p:nvPr/>
        </p:nvSpPr>
        <p:spPr>
          <a:xfrm>
            <a:off x="7959318" y="3683366"/>
            <a:ext cx="3944217" cy="2703119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91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25D51-A5AC-0E57-EB31-3EEAEB42D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7ADA-43E1-E265-1CB5-0D78EFC6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24FFA-5A6A-B944-D17A-1D2455AE8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5019"/>
          </a:xfrm>
        </p:spPr>
        <p:txBody>
          <a:bodyPr/>
          <a:lstStyle/>
          <a:p>
            <a:r>
              <a:rPr lang="en-US" dirty="0"/>
              <a:t>Simulations (typically 1 – 5 ns) let molecules interact with each other</a:t>
            </a:r>
          </a:p>
          <a:p>
            <a:pPr lvl="1"/>
            <a:r>
              <a:rPr lang="en-US" dirty="0"/>
              <a:t>Outputs trajectory files tracking vibrations and rotations and bond bending/stretching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A3609-906B-62CD-F5F0-9DCFAD59B901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</a:t>
            </a:r>
            <a:r>
              <a:rPr lang="en-US" b="1" dirty="0"/>
              <a:t>Files and structure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		DOS calculation</a:t>
            </a:r>
          </a:p>
        </p:txBody>
      </p:sp>
    </p:spTree>
    <p:extLst>
      <p:ext uri="{BB962C8B-B14F-4D97-AF65-F5344CB8AC3E}">
        <p14:creationId xmlns:p14="http://schemas.microsoft.com/office/powerpoint/2010/main" val="4099330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3A430-B784-7C9F-22FD-4869DB5B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E2D6-0F76-FADF-9444-045934B30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VACF + 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165A9-0450-5A42-D15C-6898E5BBA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5019"/>
          </a:xfrm>
        </p:spPr>
        <p:txBody>
          <a:bodyPr>
            <a:normAutofit/>
          </a:bodyPr>
          <a:lstStyle/>
          <a:p>
            <a:r>
              <a:rPr lang="en-US" dirty="0" err="1"/>
              <a:t>gmx</a:t>
            </a:r>
            <a:r>
              <a:rPr lang="en-US" dirty="0"/>
              <a:t> </a:t>
            </a:r>
            <a:r>
              <a:rPr lang="en-US" dirty="0" err="1"/>
              <a:t>velacc</a:t>
            </a:r>
            <a:r>
              <a:rPr lang="en-US" dirty="0"/>
              <a:t>: computes the velocity autocorrelation function</a:t>
            </a:r>
          </a:p>
          <a:p>
            <a:r>
              <a:rPr lang="en-US" dirty="0" err="1"/>
              <a:t>gmx</a:t>
            </a:r>
            <a:r>
              <a:rPr lang="en-US" dirty="0"/>
              <a:t> dos: computes the Density of States from a simulations</a:t>
            </a:r>
          </a:p>
          <a:p>
            <a:endParaRPr lang="en-US" dirty="0"/>
          </a:p>
          <a:p>
            <a:r>
              <a:rPr lang="en-US" dirty="0"/>
              <a:t>Both need trajectory files (output from production)</a:t>
            </a:r>
          </a:p>
          <a:p>
            <a:pPr lvl="1"/>
            <a:r>
              <a:rPr lang="en-US" dirty="0"/>
              <a:t>Contains all the coordinates, velocities, forces and energies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FFDC5-853A-9D37-207B-AB4513BC790C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Files and structure 		</a:t>
            </a:r>
            <a:r>
              <a:rPr lang="en-US" b="1" dirty="0"/>
              <a:t>DOS calculation</a:t>
            </a:r>
          </a:p>
        </p:txBody>
      </p:sp>
    </p:spTree>
    <p:extLst>
      <p:ext uri="{BB962C8B-B14F-4D97-AF65-F5344CB8AC3E}">
        <p14:creationId xmlns:p14="http://schemas.microsoft.com/office/powerpoint/2010/main" val="606449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FC058-84EE-291C-5CEA-1FBCC273C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A3B2-4045-A8DC-9929-AD9DD6611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2D129-1CCD-6D98-8136-E3F410C47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40277"/>
          </a:xfrm>
        </p:spPr>
        <p:txBody>
          <a:bodyPr/>
          <a:lstStyle/>
          <a:p>
            <a:r>
              <a:rPr lang="en-US" dirty="0"/>
              <a:t>“The density of states is calculated from the mass-weighted autocorrelation</a:t>
            </a:r>
          </a:p>
          <a:p>
            <a:pPr lvl="1"/>
            <a:r>
              <a:rPr lang="en-US" dirty="0"/>
              <a:t>by default only from the square of the real component rather than absolute value”</a:t>
            </a:r>
          </a:p>
          <a:p>
            <a:r>
              <a:rPr lang="en-US" dirty="0"/>
              <a:t>“This means the shape can differ substantially from the plain vibrational power spectrum you can calculate with </a:t>
            </a:r>
            <a:r>
              <a:rPr lang="en-US" dirty="0" err="1"/>
              <a:t>gmx</a:t>
            </a:r>
            <a:r>
              <a:rPr lang="en-US" dirty="0"/>
              <a:t> </a:t>
            </a:r>
            <a:r>
              <a:rPr lang="en-US" dirty="0" err="1"/>
              <a:t>velacc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program needs a lot of memory: total usage equals the number of atoms times 3 times number of frames times 4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6FB27-2D06-0E10-A37B-E3A1901FFAD9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Files and structure 		</a:t>
            </a:r>
            <a:r>
              <a:rPr lang="en-US" b="1" dirty="0"/>
              <a:t>DOS calculation</a:t>
            </a:r>
          </a:p>
        </p:txBody>
      </p:sp>
    </p:spTree>
    <p:extLst>
      <p:ext uri="{BB962C8B-B14F-4D97-AF65-F5344CB8AC3E}">
        <p14:creationId xmlns:p14="http://schemas.microsoft.com/office/powerpoint/2010/main" val="2924274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29A02-BB21-9B77-86EC-981327C4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3082-D1C2-BB30-183E-1F7940D0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CCF8F-4106-ED40-D7AC-39A3B2F88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5019"/>
          </a:xfrm>
        </p:spPr>
        <p:txBody>
          <a:bodyPr/>
          <a:lstStyle/>
          <a:p>
            <a:r>
              <a:rPr lang="en-US" dirty="0"/>
              <a:t>Does not need to have </a:t>
            </a:r>
            <a:r>
              <a:rPr lang="en-US" dirty="0" err="1"/>
              <a:t>gmx</a:t>
            </a:r>
            <a:r>
              <a:rPr lang="en-US" dirty="0"/>
              <a:t> </a:t>
            </a:r>
            <a:r>
              <a:rPr lang="en-US" dirty="0" err="1"/>
              <a:t>velacc</a:t>
            </a:r>
            <a:r>
              <a:rPr lang="en-US" dirty="0"/>
              <a:t> run beforehand</a:t>
            </a:r>
          </a:p>
          <a:p>
            <a:r>
              <a:rPr lang="en-US" dirty="0"/>
              <a:t>Outputs </a:t>
            </a:r>
            <a:r>
              <a:rPr lang="en-US" dirty="0" err="1"/>
              <a:t>vacf</a:t>
            </a:r>
            <a:r>
              <a:rPr lang="en-US" dirty="0"/>
              <a:t> and dos files</a:t>
            </a:r>
          </a:p>
          <a:p>
            <a:r>
              <a:rPr lang="en-US" dirty="0"/>
              <a:t>Option to normalize the DoS such that it adds up to 3N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65827-DAE8-D637-183A-AE65E04C08CB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Files and structure 		</a:t>
            </a:r>
            <a:r>
              <a:rPr lang="en-US" b="1" dirty="0"/>
              <a:t>DOS calculation</a:t>
            </a:r>
          </a:p>
        </p:txBody>
      </p:sp>
    </p:spTree>
    <p:extLst>
      <p:ext uri="{BB962C8B-B14F-4D97-AF65-F5344CB8AC3E}">
        <p14:creationId xmlns:p14="http://schemas.microsoft.com/office/powerpoint/2010/main" val="3938095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21FCD-F7AC-7D9F-2BC8-D85427F31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5C016-5E9D-6AAA-AE31-CD91572A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174EE-B2EF-06DC-BC52-6A6F9536F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6945351" cy="3526960"/>
          </a:xfrm>
        </p:spPr>
        <p:txBody>
          <a:bodyPr/>
          <a:lstStyle/>
          <a:p>
            <a:r>
              <a:rPr lang="en-US" dirty="0"/>
              <a:t>Temperature = total kinetic energy of system</a:t>
            </a:r>
          </a:p>
          <a:p>
            <a:endParaRPr lang="en-US" dirty="0"/>
          </a:p>
          <a:p>
            <a:r>
              <a:rPr lang="en-US" dirty="0"/>
              <a:t>Berendsen, Andersen, Nose-Hoover, V-rescale (velocity rescaling)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A7866-49E1-FEDF-F99E-5CB1C203477C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</a:t>
            </a:r>
            <a:r>
              <a:rPr lang="en-US" b="1" dirty="0"/>
              <a:t>Files and structure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		DOS calculation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AB0CF1-8304-72A3-C5A3-AF0113835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489" y="1561296"/>
            <a:ext cx="2941820" cy="1325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9499DB-51A2-0AD5-FE5F-DEC0902E5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2489" y="3793011"/>
            <a:ext cx="2525921" cy="110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83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70EC7-44D9-4EDC-90A5-56F52209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EFF6E-8651-ACE4-7B63-1E3FAAB97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Barostats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CEA80-490B-8FF7-F6EA-70E11EA0B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6683" cy="4290167"/>
          </a:xfrm>
        </p:spPr>
        <p:txBody>
          <a:bodyPr>
            <a:normAutofit/>
          </a:bodyPr>
          <a:lstStyle/>
          <a:p>
            <a:r>
              <a:rPr lang="en-US" dirty="0"/>
              <a:t>Pressure is calculated as difference </a:t>
            </a:r>
            <a:r>
              <a:rPr lang="en-US" dirty="0" err="1"/>
              <a:t>btwn</a:t>
            </a:r>
            <a:r>
              <a:rPr lang="en-US" dirty="0"/>
              <a:t> KE and the virial, </a:t>
            </a:r>
            <a:r>
              <a:rPr lang="el-GR" dirty="0"/>
              <a:t>Ξ</a:t>
            </a:r>
            <a:endParaRPr lang="en-US" dirty="0"/>
          </a:p>
          <a:p>
            <a:endParaRPr lang="en-US" dirty="0"/>
          </a:p>
          <a:p>
            <a:r>
              <a:rPr lang="en-US" dirty="0"/>
              <a:t>Scalar pressure is used for isotropic systems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Berendsen, Parrinello-Rahman, Martyna-Tuckerman-Tobias-Klein (MTTK), and C-rescale,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38B93-C008-18D1-7B22-241DDD604CFA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</a:t>
            </a:r>
            <a:r>
              <a:rPr lang="en-US" b="1" dirty="0"/>
              <a:t>Files and structure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		DOS calculation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AAC50-8510-57C3-94E4-71A328F48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007" y="1939765"/>
            <a:ext cx="2524125" cy="1019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EF1721-8E5A-8D74-30DE-125F215CD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007" y="3052112"/>
            <a:ext cx="2647950" cy="1162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19C483-1CC9-B2C3-3705-C4D72D8E5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007" y="4351090"/>
            <a:ext cx="2295525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695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6C26B-DCD2-2893-C5A0-18ABE21B2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ADD5-6208-8DD3-E159-AB8DCDE6A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OPLS-AA - </a:t>
            </a:r>
            <a:r>
              <a:rPr lang="en-US" sz="2400" dirty="0"/>
              <a:t>Optimized Potential for Liquid Simulations (All Atom)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7E6E4-03A0-0B14-45CC-0688BE792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63270" cy="160337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https://pubs.acs.org/doi/10.1021/ja9621760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B04C9-682A-57E6-D786-DF7357374BBF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2" action="ppaction://hlinksldjump"/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Files and structure 		DOS calculation</a:t>
            </a:r>
          </a:p>
        </p:txBody>
      </p:sp>
    </p:spTree>
    <p:extLst>
      <p:ext uri="{BB962C8B-B14F-4D97-AF65-F5344CB8AC3E}">
        <p14:creationId xmlns:p14="http://schemas.microsoft.com/office/powerpoint/2010/main" val="105825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EB222-6F99-4626-9BF7-135D7D38B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C1AF6-30DF-4CDA-2455-07B7E5E9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AMBER - </a:t>
            </a:r>
            <a:r>
              <a:rPr lang="en-US" sz="2400" dirty="0"/>
              <a:t>Assisted Model Building and Energy Refinement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89DC8-F3DF-BA9B-8A28-BAE0D4872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5019"/>
          </a:xfrm>
        </p:spPr>
        <p:txBody>
          <a:bodyPr/>
          <a:lstStyle/>
          <a:p>
            <a:r>
              <a:rPr lang="en-US" dirty="0"/>
              <a:t>Uses partial charges centered on atoms</a:t>
            </a:r>
          </a:p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http://ffamber.cnsm.csulb.edu/ffamber.php</a:t>
            </a:r>
            <a:endParaRPr lang="en-US" dirty="0"/>
          </a:p>
          <a:p>
            <a:r>
              <a:rPr lang="en-US" dirty="0">
                <a:hlinkClick r:id="rId3"/>
              </a:rPr>
              <a:t>https://ambermd.org/doc12/Amber24.pdf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070E3D-205E-814A-63D8-97AE1BABC053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4" action="ppaction://hlinksldjump"/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Files and structure 		DOS calculation</a:t>
            </a:r>
          </a:p>
        </p:txBody>
      </p:sp>
    </p:spTree>
    <p:extLst>
      <p:ext uri="{BB962C8B-B14F-4D97-AF65-F5344CB8AC3E}">
        <p14:creationId xmlns:p14="http://schemas.microsoft.com/office/powerpoint/2010/main" val="4031879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A1132-083B-6352-F157-E1CC35685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9F5B-AAA7-6D4A-C6E5-E52E66669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CHARM - </a:t>
            </a:r>
            <a:r>
              <a:rPr lang="en-US" sz="2400" dirty="0"/>
              <a:t>Chemistry at </a:t>
            </a:r>
            <a:r>
              <a:rPr lang="en-US" sz="2400" dirty="0" err="1"/>
              <a:t>HARvard</a:t>
            </a:r>
            <a:r>
              <a:rPr lang="en-US" sz="2400" dirty="0"/>
              <a:t> Macromolecular Mechanics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4F485-9911-E942-C63E-F7585D64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5019"/>
          </a:xfrm>
        </p:spPr>
        <p:txBody>
          <a:bodyPr/>
          <a:lstStyle/>
          <a:p>
            <a:r>
              <a:rPr lang="en-US" dirty="0"/>
              <a:t>Used for biologic systems (peptides, proteins, lipids, nucleic acids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https://academiccharmm.org/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EAB3E-F94D-3041-55EB-7CA8B92185A3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2" action="ppaction://hlinksldjump"/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Files and structure 		DOS calculation</a:t>
            </a:r>
          </a:p>
        </p:txBody>
      </p:sp>
    </p:spTree>
    <p:extLst>
      <p:ext uri="{BB962C8B-B14F-4D97-AF65-F5344CB8AC3E}">
        <p14:creationId xmlns:p14="http://schemas.microsoft.com/office/powerpoint/2010/main" val="1054451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88AD-337C-EEE2-13F4-31F8395B1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6B5D1-61D7-4E54-BB83-04DFE9BEA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GROMOS - </a:t>
            </a:r>
            <a:r>
              <a:rPr lang="en-US" sz="2400" dirty="0" err="1"/>
              <a:t>GROningen</a:t>
            </a:r>
            <a:r>
              <a:rPr lang="en-US" sz="2400" dirty="0"/>
              <a:t> </a:t>
            </a:r>
            <a:r>
              <a:rPr lang="en-US" sz="2400" dirty="0" err="1"/>
              <a:t>MOlecular</a:t>
            </a:r>
            <a:r>
              <a:rPr lang="en-US" sz="2400" dirty="0"/>
              <a:t> Simulation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B2284-8EC6-C0B7-DC28-BBF46DE61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2037"/>
          </a:xfrm>
        </p:spPr>
        <p:txBody>
          <a:bodyPr/>
          <a:lstStyle/>
          <a:p>
            <a:r>
              <a:rPr lang="en-US" dirty="0"/>
              <a:t>A general-purpose molecular dynamics computer simulation package for the study of biomolecular systems</a:t>
            </a:r>
          </a:p>
          <a:p>
            <a:endParaRPr lang="en-US" dirty="0"/>
          </a:p>
          <a:p>
            <a:r>
              <a:rPr lang="en-US" dirty="0"/>
              <a:t>Chemical and physical systems ranging from glasses and liquid crystals, to polymers and crystals </a:t>
            </a:r>
          </a:p>
          <a:p>
            <a:r>
              <a:rPr lang="en-US" dirty="0"/>
              <a:t> B-version to simulate gas phase isolated </a:t>
            </a:r>
            <a:r>
              <a:rPr lang="en-US" dirty="0" err="1"/>
              <a:t>moleculesand</a:t>
            </a:r>
            <a:r>
              <a:rPr lang="en-US" dirty="0"/>
              <a:t> solutions of biomolecules</a:t>
            </a:r>
          </a:p>
          <a:p>
            <a:r>
              <a:rPr lang="en-US" dirty="0"/>
              <a:t>https://www.gromos.net/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F93CD-705A-434E-9F08-9C8154F8DEB0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2" action="ppaction://hlinksldjump"/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Files and structure 		DOS calculation</a:t>
            </a:r>
          </a:p>
        </p:txBody>
      </p:sp>
    </p:spTree>
    <p:extLst>
      <p:ext uri="{BB962C8B-B14F-4D97-AF65-F5344CB8AC3E}">
        <p14:creationId xmlns:p14="http://schemas.microsoft.com/office/powerpoint/2010/main" val="3861427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00F22-D2D1-BC03-8A32-5A9477DE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AB3D7-CCD3-B76E-6A5C-511C34C47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2706C-11B5-25EE-3269-65C8F1519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71302" cy="1325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https://manual.gromacs.org/2025.0/reference-manual/algorithms/molecular-dynamics.html#fig-maxwell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F7FAA-39F6-AE2E-3BAD-D0E6EBE94DCF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Files and structure 		</a:t>
            </a:r>
            <a:r>
              <a:rPr lang="en-US" b="1" dirty="0"/>
              <a:t>DOS calculation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531C58-681E-1EAE-63E9-CD296B62C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512" y="3284499"/>
            <a:ext cx="4114800" cy="3105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4D09BC-E220-370F-5D07-8BA840803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371" y="3795674"/>
            <a:ext cx="404812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02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9F6A-E845-EA1C-9410-669CCF4B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2AD71-3F91-5C60-501C-11C645BE2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https://manual.gromacs.org/2025.0/reference-manual/functions/functions.html#ff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https://manual.gromacs.org/2025.0/reference-manual/algorithms/molecular-dynamics.html#fig-maxwell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19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089E2-6D52-5700-45F9-502FD74E1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8C172-978C-522A-EF57-481D45F15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OPLS-AA - </a:t>
            </a:r>
            <a:r>
              <a:rPr lang="en-US" sz="2400" dirty="0"/>
              <a:t>Optimized Potential for Liquid Simulations (All Atom)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5601F-6EED-7B33-5D60-5BDCCD00B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63270" cy="160337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https://pubs.acs.org/doi/10.1021/ja9621760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226665-0B40-6839-0BB4-47569AE7F61E}"/>
              </a:ext>
            </a:extLst>
          </p:cNvPr>
          <p:cNvSpPr txBox="1"/>
          <p:nvPr/>
        </p:nvSpPr>
        <p:spPr>
          <a:xfrm>
            <a:off x="167268" y="6389649"/>
            <a:ext cx="11742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2" action="ppaction://hlinksldjump"/>
              </a:rPr>
              <a:t>Formulation</a:t>
            </a:r>
            <a:r>
              <a:rPr lang="en-US" dirty="0"/>
              <a:t>		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Computation		Files and structure 		DOS calculation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6C0121-63FD-262C-356E-D1D6CFF96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90" y="3904695"/>
            <a:ext cx="1019175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71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1809</TotalTime>
  <Words>1233</Words>
  <Application>Microsoft Office PowerPoint</Application>
  <PresentationFormat>Widescreen</PresentationFormat>
  <Paragraphs>168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Wingdings</vt:lpstr>
      <vt:lpstr>Office Theme</vt:lpstr>
      <vt:lpstr>GROMACS</vt:lpstr>
      <vt:lpstr>GROMACS Formulation</vt:lpstr>
      <vt:lpstr>GROMACS Formulation</vt:lpstr>
      <vt:lpstr>Computational Aspects</vt:lpstr>
      <vt:lpstr>Computational Aspects - Integrators</vt:lpstr>
      <vt:lpstr>Computational Aspects - Scales</vt:lpstr>
      <vt:lpstr>Files and Structure – DOS Workflow</vt:lpstr>
      <vt:lpstr>Coordinate File</vt:lpstr>
      <vt:lpstr>Topology File</vt:lpstr>
      <vt:lpstr>Simulation Box</vt:lpstr>
      <vt:lpstr>Energy Minimization</vt:lpstr>
      <vt:lpstr>Equilibration Runs</vt:lpstr>
      <vt:lpstr>Production Run</vt:lpstr>
      <vt:lpstr>VACF + DOS</vt:lpstr>
      <vt:lpstr>DOS</vt:lpstr>
      <vt:lpstr>DOS</vt:lpstr>
      <vt:lpstr>Thermostats</vt:lpstr>
      <vt:lpstr>Barostats</vt:lpstr>
      <vt:lpstr>OPLS-AA - Optimized Potential for Liquid Simulations (All Atom)</vt:lpstr>
      <vt:lpstr>AMBER - Assisted Model Building and Energy Refinement</vt:lpstr>
      <vt:lpstr>CHARM - Chemistry at HARvard Macromolecular Mechanics</vt:lpstr>
      <vt:lpstr>GROMOS - GROningen MOlecular Simulation</vt:lpstr>
      <vt:lpstr>PowerPoint Presentation</vt:lpstr>
      <vt:lpstr>Links</vt:lpstr>
      <vt:lpstr>OPLS-AA - Optimized Potential for Liquid Simulations (All Atom)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Brey, Nick</dc:creator>
  <cp:lastModifiedBy>Brey, Nick</cp:lastModifiedBy>
  <cp:revision>16</cp:revision>
  <dcterms:created xsi:type="dcterms:W3CDTF">2026-01-01T20:03:18Z</dcterms:created>
  <dcterms:modified xsi:type="dcterms:W3CDTF">2026-01-08T16:21:09Z</dcterms:modified>
</cp:coreProperties>
</file>